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I'm Hsueh-Jui Lu, from the National Center for High-performance Computing in Taiwan.</a:t>
            </a:r>
          </a:p>
          <a:p/>
          <a:p>
            <a:r>
              <a:t>This talk is about a problem that most groups running an in-house CFD solver know well: the solver is good, and almost nobody outside the group can use it. We built a platform that closes that gap, and we built it with an AI assistant in the loop — so the talk is really two stories, the platform and the method.</a:t>
            </a:r>
          </a:p>
          <a:p/>
          <a:p>
            <a:r>
              <a:t>20 minutes. I'll leave time for questions.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observation that motivates everything.</a:t>
            </a:r>
          </a:p>
          <a:p/>
          <a:p>
            <a:r>
              <a:t>In-house CFD solvers often reach high numerical maturity — they're validated, they're published, they produce good answers. And yet adoption stays low.</a:t>
            </a:r>
          </a:p>
          <a:p/>
          <a:p>
            <a:r>
              <a:t>The reason is almost never the numerics. It's that using one requires coordinating five separate tools, converting files by hand between every stage, and writing solver-specific configuration with essentially no GUI support.</a:t>
            </a:r>
          </a:p>
          <a:p/>
          <a:p>
            <a:r>
              <a:t>So the barrier is a workflow barrier. That's the thing we set out to remove.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UNICONES is our in-house solver, and it's the representative case for the paper.</a:t>
            </a:r>
          </a:p>
          <a:p/>
          <a:p>
            <a:r>
              <a:t>It's a compressible Euler and Navier-Stokes solver built on the CESE method — the space-time conservation element and solution element framework.</a:t>
            </a:r>
          </a:p>
          <a:p/>
          <a:p>
            <a:r>
              <a:t>It's openly available academically. And even so, becoming productive with it takes on the order of weeks of guided effort. That combination — a good solver, a high adoption cost — is the gap we're addressing.</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contributions, and I'll come back to each.</a:t>
            </a:r>
          </a:p>
          <a:p/>
          <a:p>
            <a:r>
              <a:t>First, the solver adapter — a small interface that lets you integrate a new solver without touching anything upstream.</a:t>
            </a:r>
          </a:p>
          <a:p/>
          <a:p>
            <a:r>
              <a:t>Second, the development methodology. We built this with an LLM assistant in agentic mode, and we kept enough records to say something concrete about what that was actually like — including where it helped least.</a:t>
            </a:r>
          </a:p>
          <a:p/>
          <a:p>
            <a:r>
              <a:t>Third, the design strategy itself, which we think generalizes to other groups in the same position.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architecture. Four modules — PreProcessor, Mesh Generator, Core Solver, Results Visualization — inside one PyQt6 application.</a:t>
            </a:r>
          </a:p>
          <a:p/>
          <a:p>
            <a:r>
              <a:t>The important detail is the bar underneath. The Solver Adapter spans the last three modules, and it's the only place solver-specific knowledge lives. That's what makes the rest of the platform reusable.</a:t>
            </a:r>
          </a:p>
          <a:p/>
          <a:p>
            <a:r>
              <a:t>Every conversion between stages is automatic. The user never handles an intermediate file.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one, the preprocessor.</a:t>
            </a:r>
          </a:p>
          <a:p/>
          <a:p>
            <a:r>
              <a:t>It's an interactive canvas for building and editing geometry. You can choose among several point-spacing strategies, the tool detects sharp corners automatically, and you can resample individual segments rather than the whole curve.</a:t>
            </a:r>
          </a:p>
          <a:p/>
          <a:p>
            <a:r>
              <a:t>The heavy lifting sits in a standalone C++ backend, so the GUI stays responsive.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mesh generator produces 2D hybrid meshes — about 1,500 lines of C++.</a:t>
            </a:r>
          </a:p>
          <a:p/>
          <a:p>
            <a:r>
              <a:t>You can see the structure in the figure: a structured boundary layer of quadrilaterals growing outward from the body by node advancement, and unstructured triangles filling the far field using Gmsh's Frontal-Delaunay algorithm.</a:t>
            </a:r>
          </a:p>
          <a:p/>
          <a:p>
            <a:r>
              <a:t>It exports both VTK and STAR-CD formats, and — this matters for the workflow claim — the conversions between stages are automatic.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three drives the solver.</a:t>
            </a:r>
          </a:p>
          <a:p/>
          <a:p>
            <a:r>
              <a:t>It handles input format conversion, optional MPI domain decomposition, and the execution itself — including solvers distributed as shared libraries, through a built-in DLL call template.</a:t>
            </a:r>
          </a:p>
          <a:p/>
          <a:p>
            <a:r>
              <a:t>The part users notice is the background worker: it parses stdout as the solve runs, so convergence is monitored live rather than after the fact.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module four, visualization.</a:t>
            </a:r>
          </a:p>
          <a:p/>
          <a:p>
            <a:r>
              <a:t>It parses Tecplot-format output and renders cell-centred scalar fields on an embedded matplotlib canvas — contours, streamlines, vector glyphs, with interactive control over the colormap and the field variable.</a:t>
            </a:r>
          </a:p>
          <a:p/>
          <a:p>
            <a:r>
              <a:t>This is a Mach number contour on a NACA 0012, produced end to end by the pipeline.</a:t>
            </a:r>
          </a:p>
          <a:p/>
          <a:p>
            <a:r>
              <a:t>The key design point: because it reads through the adapter, visualization is fully decoupled from any particular solver's output format.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central design idea, and the one I'd like you to take away.</a:t>
            </a:r>
          </a:p>
          <a:p/>
          <a:p>
            <a:r>
              <a:t>Integrating a new solver means implementing three methods. That's the whole contract. Everything upstream — the preprocessor, the mesher, the visualization — stays exactly as it is.</a:t>
            </a:r>
          </a:p>
          <a:p/>
          <a:p>
            <a:r>
              <a:t>It comes to fewer than 150 lines of Python per new solver.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contract in full.</a:t>
            </a:r>
          </a:p>
          <a:p/>
          <a:p>
            <a:r>
              <a:t>convert_mesh takes the platform's VTK mesh and writes whatever the solver reads. For UNICONES that's the STAR-CD triplet.</a:t>
            </a:r>
          </a:p>
          <a:p/>
          <a:p>
            <a:r>
              <a:t>parse_stdout takes one line of solver stdout and returns convergence quantities, or None if it's not a data line. That's what drives live monitoring.</a:t>
            </a:r>
          </a:p>
          <a:p/>
          <a:p>
            <a:r>
              <a:t>read_results parses the solver's own output into a structured field dataset. Because visualization goes through this method, it never needs to know which solver ran.</a:t>
            </a:r>
          </a:p>
          <a:p/>
          <a:p>
            <a:r>
              <a:t>Three methods, and the solver is integrated.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second half of the talk: how this was built.</a:t>
            </a:r>
          </a:p>
          <a:p/>
          <a:p>
            <a:r>
              <a:t>We used LLM coding assistants in agentic mode — that means they could read, write and execute files in the project, not just produce text in a chat window. That distinction matters a great deal.</a:t>
            </a:r>
          </a:p>
          <a:p/>
          <a:p>
            <a:r>
              <a:t>The division of labour: the domain expert defined the architecture, the numerical algorithms, the chain of format compatibility, and what counted as physically correct. The AI generated GUI boilerplate, parsers, and C++ routines from algorithmic descriptions.</a:t>
            </a:r>
          </a:p>
          <a:p/>
          <a:p>
            <a:r>
              <a:t>Typically a feature took two to five rounds of describe, generate, execute, validate, correct.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make that concrete, because it's the most useful thing we learned.</a:t>
            </a:r>
          </a:p>
          <a:p/>
          <a:p>
            <a:r>
              <a:t>The boundary-layer module. The expert described the outward node-advancement algorithm in natural language, and the AI wrote a first C++ implementation. It compiled. It ran.</a:t>
            </a:r>
          </a:p>
          <a:p/>
          <a:p>
            <a:r>
              <a:t>And it was wrong in ways the description could not reach. Text alone could not resolve the geometric failures. What found them was actual runtime output — self-intersections at sharp trailing edges, incorrect fan-node counts at convex corners.</a:t>
            </a:r>
          </a:p>
          <a:p/>
          <a:p>
            <a:r>
              <a:t>Two things helped. More carefully phrased prompts consistently reduced the number of correction rounds. And even when the AI confirmed a fix as correct, physical validation by the domain expert was still needed — because some discrepancies only appear in real use.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Some numbers, from the developer logs. I want to be careful here: these are case-study observations, not controlled experimental results. Treat them as indicative.</a:t>
            </a:r>
          </a:p>
          <a:p/>
          <a:p>
            <a:r>
              <a:t>By line count, roughly 70 to 80 percent of the code was AI-generated.</a:t>
            </a:r>
          </a:p>
          <a:p/>
          <a:p>
            <a:r>
              <a:t>The median feature took two to five correction rounds.</a:t>
            </a:r>
          </a:p>
          <a:p/>
          <a:p>
            <a:r>
              <a:t>Total effort was around four to six weeks — against an estimated three to six months for conventional solo development of equivalent scope.</a:t>
            </a:r>
          </a:p>
          <a:p/>
          <a:p>
            <a:r>
              <a:t>And it was one domain expert. There was no dedicated GUI software engineer on this project.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honest finding is that the contribution was uneven.</a:t>
            </a:r>
          </a:p>
          <a:p/>
          <a:p>
            <a:r>
              <a:t>For GUI boilerplate — widget layouts, signal-slot wiring, stdout parsers — the AI was extremely productive, 80 to 90 percent.</a:t>
            </a:r>
          </a:p>
          <a:p/>
          <a:p>
            <a:r>
              <a:t>For domain-specific numerical logic and cross-component integration, it was much lower — 40 to 60 percent — and those are exactly the parts that decide whether the software is right.</a:t>
            </a:r>
          </a:p>
          <a:p/>
          <a:p>
            <a:r>
              <a:t>The 69-file, 18,000-line GUI reinforced the same pattern. Boilerplate: very productive. Workflow-level decisions — how modes switch, how panels stay consistent — needed explicit human specification. A good example: the IBM and non-IBM solver output modes turned out, only in live testing, to produce different stdout structures. No amount of prompt-writing would have surfaced that; running it did.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did it buy?</a:t>
            </a:r>
          </a:p>
          <a:p/>
          <a:p>
            <a:r>
              <a:t>Against using UNICONES without a unified interface: five separate tools become one. Around twenty manual steps per simulation become around five.</a:t>
            </a:r>
          </a:p>
          <a:p/>
          <a:p>
            <a:r>
              <a:t>And the time for a new user to become familiar with the full workflow drops from roughly two weeks to roughly two days.</a:t>
            </a:r>
          </a:p>
          <a:p/>
          <a:p>
            <a:r>
              <a:t>Again — these are estimates from informal observation, not a controlled study. We say so in the paper. The mechanism behind them is concrete, though: it's the elimination of manual format conversion and inter-tool transfer at each stage.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Stepping back — the AI-assisted approach proved most effective for peripheral tooling: GUIs, data pipelines, visualization. That's where LLM strengths in well-established software patterns apply.</a:t>
            </a:r>
          </a:p>
          <a:p/>
          <a:p>
            <a:r>
              <a:t>But effective collaboration required three layers of human oversight: precise problem description, execution-based diagnosis of edge cases, and physical validation.</a:t>
            </a:r>
          </a:p>
          <a:p/>
          <a:p>
            <a:r>
              <a:t>And I'd underline the conclusion we draw: without domain expertise at each of those layers, this approach risks producing implementations that are plausible and incorrect. In CFD that's the worst possible failure mode, because it doesn't look like one.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a:t>
            </a:r>
          </a:p>
          <a:p/>
          <a:p>
            <a:r>
              <a:t>We presented an integrated CFD workflow platform for in-house solvers, demonstrated with UNICONES, built without modifying the solver core.</a:t>
            </a:r>
          </a:p>
          <a:p/>
          <a:p>
            <a:r>
              <a:t>It reduces the tools required from five to one, the workflow from around twenty steps to around five, and estimated onboarding from two weeks to two days.</a:t>
            </a:r>
          </a:p>
          <a:p/>
          <a:p>
            <a:r>
              <a:t>The modular adapter — under 150 lines of Python per new solver — decouples solver-specific logic from the platform core. And we think that pattern is reproducible by domain-expert teams without dedicated software-engineering resources.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Future work, briefly: extending to 3D mesh generation, a formal user study with standardized usability metrics — which is what our current estimates really need — and web-based deployment, to lower the barrier further for CFD education and research.</a:t>
            </a:r>
          </a:p>
          <a:p/>
          <a:p>
            <a:r>
              <a:t>Thank you. I'm happy to take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6858000"/>
          </a:xfrm>
          <a:prstGeom prst="roundRect">
            <a:avLst>
              <a:gd name="adj" fmla="val 6000"/>
            </a:avLst>
          </a:prstGeom>
          <a:solidFill>
            <a:srgbClr val="0B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201168" cy="6858000"/>
          </a:xfrm>
          <a:prstGeom prst="roundRect">
            <a:avLst>
              <a:gd name="adj" fmla="val 6000"/>
            </a:avLst>
          </a:prstGeom>
          <a:solidFill>
            <a:srgbClr val="107A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51560" y="1481328"/>
            <a:ext cx="8229600" cy="274320"/>
          </a:xfrm>
          <a:prstGeom prst="rect">
            <a:avLst/>
          </a:prstGeom>
          <a:noFill/>
        </p:spPr>
        <p:txBody>
          <a:bodyPr wrap="square" lIns="0" rIns="0" tIns="0" bIns="0" anchor="t">
            <a:spAutoFit/>
          </a:bodyPr>
          <a:lstStyle/>
          <a:p>
            <a:pPr algn="l"/>
            <a:r>
              <a:rPr sz="1300" b="1" i="0">
                <a:solidFill>
                  <a:srgbClr val="7FC6CE"/>
                </a:solidFill>
                <a:latin typeface="Arial"/>
              </a:rPr>
              <a:t>JSST 2026</a:t>
            </a:r>
          </a:p>
        </p:txBody>
      </p:sp>
      <p:sp>
        <p:nvSpPr>
          <p:cNvPr id="5" name="TextBox 4"/>
          <p:cNvSpPr txBox="1"/>
          <p:nvPr/>
        </p:nvSpPr>
        <p:spPr>
          <a:xfrm>
            <a:off x="1051560" y="1901952"/>
            <a:ext cx="10058400" cy="1737360"/>
          </a:xfrm>
          <a:prstGeom prst="rect">
            <a:avLst/>
          </a:prstGeom>
          <a:noFill/>
        </p:spPr>
        <p:txBody>
          <a:bodyPr wrap="square" lIns="0" rIns="0" tIns="0" bIns="0" anchor="t">
            <a:spAutoFit/>
          </a:bodyPr>
          <a:lstStyle/>
          <a:p>
            <a:pPr algn="l">
              <a:spcAft>
                <a:spcPts val="200"/>
              </a:spcAft>
            </a:pPr>
            <a:r>
              <a:rPr sz="4000" b="1" i="0">
                <a:solidFill>
                  <a:srgbClr val="FFFFFF"/>
                </a:solidFill>
                <a:latin typeface="Arial"/>
              </a:rPr>
              <a:t>An Integrated CFD Workflow Platform</a:t>
            </a:r>
          </a:p>
          <a:p>
            <a:pPr>
              <a:spcAft>
                <a:spcPts val="200"/>
              </a:spcAft>
            </a:pPr>
            <a:r>
              <a:rPr sz="4000" b="1" i="0">
                <a:solidFill>
                  <a:srgbClr val="FFFFFF"/>
                </a:solidFill>
                <a:latin typeface="Arial"/>
              </a:rPr>
              <a:t>for In-House Solvers</a:t>
            </a:r>
          </a:p>
        </p:txBody>
      </p:sp>
      <p:sp>
        <p:nvSpPr>
          <p:cNvPr id="6" name="TextBox 5"/>
          <p:cNvSpPr txBox="1"/>
          <p:nvPr/>
        </p:nvSpPr>
        <p:spPr>
          <a:xfrm>
            <a:off x="1051560" y="3310128"/>
            <a:ext cx="9601200" cy="365760"/>
          </a:xfrm>
          <a:prstGeom prst="rect">
            <a:avLst/>
          </a:prstGeom>
          <a:noFill/>
        </p:spPr>
        <p:txBody>
          <a:bodyPr wrap="square" lIns="0" rIns="0" tIns="0" bIns="0" anchor="t">
            <a:spAutoFit/>
          </a:bodyPr>
          <a:lstStyle/>
          <a:p>
            <a:pPr algn="l"/>
            <a:r>
              <a:rPr sz="1800" b="0" i="0">
                <a:solidFill>
                  <a:srgbClr val="9FC5D6"/>
                </a:solidFill>
                <a:latin typeface="Arial"/>
              </a:rPr>
              <a:t>Modular Architecture and AI-Assisted Implementation</a:t>
            </a:r>
          </a:p>
        </p:txBody>
      </p:sp>
      <p:sp>
        <p:nvSpPr>
          <p:cNvPr id="7" name="Rectangle 6"/>
          <p:cNvSpPr/>
          <p:nvPr/>
        </p:nvSpPr>
        <p:spPr>
          <a:xfrm>
            <a:off x="1051560" y="3931920"/>
            <a:ext cx="1371600" cy="32004"/>
          </a:xfrm>
          <a:prstGeom prst="rect">
            <a:avLst/>
          </a:prstGeom>
          <a:solidFill>
            <a:srgbClr val="107A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4224528"/>
            <a:ext cx="9144000" cy="310896"/>
          </a:xfrm>
          <a:prstGeom prst="rect">
            <a:avLst/>
          </a:prstGeom>
          <a:noFill/>
        </p:spPr>
        <p:txBody>
          <a:bodyPr wrap="square" lIns="0" rIns="0" tIns="0" bIns="0" anchor="t">
            <a:spAutoFit/>
          </a:bodyPr>
          <a:lstStyle/>
          <a:p>
            <a:pPr algn="l"/>
            <a:r>
              <a:rPr sz="1500" b="1" i="0">
                <a:solidFill>
                  <a:srgbClr val="FFFFFF"/>
                </a:solidFill>
                <a:latin typeface="Arial"/>
              </a:rPr>
              <a:t>Hsueh-Jui Lu,  Sheng-Jer Chen,  Fang-An Kuo</a:t>
            </a:r>
          </a:p>
        </p:txBody>
      </p:sp>
      <p:sp>
        <p:nvSpPr>
          <p:cNvPr id="9" name="TextBox 8"/>
          <p:cNvSpPr txBox="1"/>
          <p:nvPr/>
        </p:nvSpPr>
        <p:spPr>
          <a:xfrm>
            <a:off x="1051560" y="4608576"/>
            <a:ext cx="9144000" cy="731520"/>
          </a:xfrm>
          <a:prstGeom prst="rect">
            <a:avLst/>
          </a:prstGeom>
          <a:noFill/>
        </p:spPr>
        <p:txBody>
          <a:bodyPr wrap="square" lIns="0" rIns="0" tIns="0" bIns="0" anchor="t">
            <a:spAutoFit/>
          </a:bodyPr>
          <a:lstStyle/>
          <a:p>
            <a:pPr algn="l">
              <a:spcAft>
                <a:spcPts val="200"/>
              </a:spcAft>
            </a:pPr>
            <a:r>
              <a:rPr sz="1250" b="0" i="0">
                <a:solidFill>
                  <a:srgbClr val="8FA8B8"/>
                </a:solidFill>
                <a:latin typeface="Arial"/>
              </a:rPr>
              <a:t>National Center for High-performance Computing</a:t>
            </a:r>
          </a:p>
          <a:p>
            <a:pPr>
              <a:spcAft>
                <a:spcPts val="200"/>
              </a:spcAft>
            </a:pPr>
            <a:r>
              <a:rPr sz="1250" b="0" i="0">
                <a:solidFill>
                  <a:srgbClr val="8FA8B8"/>
                </a:solidFill>
                <a:latin typeface="Arial"/>
              </a:rPr>
              <a:t>National Institutes of Applied Research, Taiwan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56032"/>
          </a:xfrm>
          <a:prstGeom prst="rect">
            <a:avLst/>
          </a:prstGeom>
          <a:noFill/>
        </p:spPr>
        <p:txBody>
          <a:bodyPr wrap="square" lIns="0" rIns="0" tIns="0" bIns="0" anchor="t">
            <a:spAutoFit/>
          </a:bodyPr>
          <a:lstStyle/>
          <a:p>
            <a:pPr algn="l"/>
            <a:r>
              <a:rPr sz="1150" b="1" i="0">
                <a:solidFill>
                  <a:srgbClr val="107A84"/>
                </a:solidFill>
                <a:latin typeface="Arial"/>
              </a:rPr>
              <a:t>MOTIVATION</a:t>
            </a:r>
          </a:p>
        </p:txBody>
      </p:sp>
      <p:sp>
        <p:nvSpPr>
          <p:cNvPr id="3" name="TextBox 2"/>
          <p:cNvSpPr txBox="1"/>
          <p:nvPr/>
        </p:nvSpPr>
        <p:spPr>
          <a:xfrm>
            <a:off x="658368" y="786384"/>
            <a:ext cx="10874959" cy="640080"/>
          </a:xfrm>
          <a:prstGeom prst="rect">
            <a:avLst/>
          </a:prstGeom>
          <a:noFill/>
        </p:spPr>
        <p:txBody>
          <a:bodyPr wrap="square" lIns="0" rIns="0" tIns="0" bIns="0" anchor="t">
            <a:spAutoFit/>
          </a:bodyPr>
          <a:lstStyle/>
          <a:p>
            <a:pPr algn="l"/>
            <a:r>
              <a:rPr sz="2700" b="1" i="0">
                <a:solidFill>
                  <a:srgbClr val="0B3552"/>
                </a:solidFill>
                <a:latin typeface="Arial"/>
              </a:rPr>
              <a:t>In-house solvers are numerically mature — and rarely adopted</a:t>
            </a:r>
          </a:p>
        </p:txBody>
      </p:sp>
      <p:sp>
        <p:nvSpPr>
          <p:cNvPr id="4" name="TextBox 3"/>
          <p:cNvSpPr txBox="1"/>
          <p:nvPr/>
        </p:nvSpPr>
        <p:spPr>
          <a:xfrm>
            <a:off x="658368" y="1481328"/>
            <a:ext cx="9352464" cy="365760"/>
          </a:xfrm>
          <a:prstGeom prst="rect">
            <a:avLst/>
          </a:prstGeom>
          <a:noFill/>
        </p:spPr>
        <p:txBody>
          <a:bodyPr wrap="square" lIns="0" rIns="0" tIns="0" bIns="0" anchor="t">
            <a:spAutoFit/>
          </a:bodyPr>
          <a:lstStyle/>
          <a:p>
            <a:pPr algn="l"/>
            <a:r>
              <a:rPr sz="1400" b="0" i="0">
                <a:solidFill>
                  <a:srgbClr val="5B6B78"/>
                </a:solidFill>
                <a:latin typeface="Arial"/>
              </a:rPr>
              <a:t>The barrier is the workflow, not the numerics.</a:t>
            </a:r>
          </a:p>
        </p:txBody>
      </p:sp>
      <p:sp>
        <p:nvSpPr>
          <p:cNvPr id="5" name="TextBox 4"/>
          <p:cNvSpPr txBox="1"/>
          <p:nvPr/>
        </p:nvSpPr>
        <p:spPr>
          <a:xfrm>
            <a:off x="658368" y="2130552"/>
            <a:ext cx="10004962" cy="4114800"/>
          </a:xfrm>
          <a:prstGeom prst="rect">
            <a:avLst/>
          </a:prstGeom>
          <a:noFill/>
        </p:spPr>
        <p:txBody>
          <a:bodyPr wrap="square" lIns="0" rIns="0" tIns="0" bIns="0" anchor="t">
            <a:spAutoFit/>
          </a:bodyPr>
          <a:lstStyle/>
          <a:p>
            <a:pPr algn="l">
              <a:spcBef>
                <a:spcPts val="0"/>
              </a:spcBef>
              <a:spcAft>
                <a:spcPts val="1100"/>
              </a:spcAft>
            </a:pPr>
            <a:r>
              <a:rPr sz="1500" b="1" i="0">
                <a:solidFill>
                  <a:srgbClr val="107A84"/>
                </a:solidFill>
                <a:latin typeface="Arial"/>
              </a:rPr>
              <a:t>—  </a:t>
            </a:r>
            <a:r>
              <a:rPr sz="1500" b="0" i="0">
                <a:solidFill>
                  <a:srgbClr val="14222E"/>
                </a:solidFill>
                <a:latin typeface="Arial"/>
              </a:rPr>
              <a:t>One simulation means coordinating </a:t>
            </a:r>
            <a:r>
              <a:rPr sz="1500" b="1" i="0">
                <a:solidFill>
                  <a:srgbClr val="14222E"/>
                </a:solidFill>
                <a:latin typeface="Arial"/>
              </a:rPr>
              <a:t>five separate tools</a:t>
            </a:r>
          </a:p>
          <a:p>
            <a:pPr>
              <a:spcBef>
                <a:spcPts val="0"/>
              </a:spcBef>
              <a:spcAft>
                <a:spcPts val="1100"/>
              </a:spcAft>
            </a:pPr>
            <a:r>
              <a:rPr sz="1500" b="1" i="0">
                <a:solidFill>
                  <a:srgbClr val="107A84"/>
                </a:solidFill>
                <a:latin typeface="Arial"/>
              </a:rPr>
              <a:t>—  </a:t>
            </a:r>
            <a:r>
              <a:rPr sz="1500" b="0" i="0">
                <a:solidFill>
                  <a:srgbClr val="14222E"/>
                </a:solidFill>
                <a:latin typeface="Arial"/>
              </a:rPr>
              <a:t>Manual file conversions and inter-tool data transfers at every stage</a:t>
            </a:r>
          </a:p>
          <a:p>
            <a:pPr>
              <a:spcBef>
                <a:spcPts val="0"/>
              </a:spcBef>
              <a:spcAft>
                <a:spcPts val="1100"/>
              </a:spcAft>
            </a:pPr>
            <a:r>
              <a:rPr sz="1500" b="1" i="0">
                <a:solidFill>
                  <a:srgbClr val="107A84"/>
                </a:solidFill>
                <a:latin typeface="Arial"/>
              </a:rPr>
              <a:t>—  </a:t>
            </a:r>
            <a:r>
              <a:rPr sz="1500" b="0" i="0">
                <a:solidFill>
                  <a:srgbClr val="14222E"/>
                </a:solidFill>
                <a:latin typeface="Arial"/>
              </a:rPr>
              <a:t>Solver-specific configuration, with little or no GUI support</a:t>
            </a:r>
          </a:p>
          <a:p>
            <a:pPr>
              <a:spcBef>
                <a:spcPts val="0"/>
              </a:spcBef>
              <a:spcAft>
                <a:spcPts val="0"/>
              </a:spcAft>
            </a:pPr>
            <a:r>
              <a:rPr sz="1500" b="1" i="0">
                <a:solidFill>
                  <a:srgbClr val="107A84"/>
                </a:solidFill>
                <a:latin typeface="Arial"/>
              </a:rPr>
              <a:t>—  </a:t>
            </a:r>
            <a:r>
              <a:rPr sz="1500" b="0" i="0">
                <a:solidFill>
                  <a:srgbClr val="14222E"/>
                </a:solidFill>
                <a:latin typeface="Arial"/>
              </a:rPr>
              <a:t>Even for a well-validated solver, familiarization takes </a:t>
            </a:r>
            <a:r>
              <a:rPr sz="1500" b="1" i="0">
                <a:solidFill>
                  <a:srgbClr val="14222E"/>
                </a:solidFill>
                <a:latin typeface="Arial"/>
              </a:rPr>
              <a:t>weeks</a:t>
            </a:r>
          </a:p>
        </p:txBody>
      </p:sp>
      <p:sp>
        <p:nvSpPr>
          <p:cNvPr id="6" name="TextBox 5"/>
          <p:cNvSpPr txBox="1"/>
          <p:nvPr/>
        </p:nvSpPr>
        <p:spPr>
          <a:xfrm>
            <a:off x="658368" y="6382512"/>
            <a:ext cx="7612471" cy="219456"/>
          </a:xfrm>
          <a:prstGeom prst="rect">
            <a:avLst/>
          </a:prstGeom>
          <a:noFill/>
        </p:spPr>
        <p:txBody>
          <a:bodyPr wrap="square" lIns="0" rIns="0" tIns="0" bIns="0" anchor="t">
            <a:spAutoFit/>
          </a:bodyPr>
          <a:lstStyle/>
          <a:p>
            <a:pPr algn="l"/>
            <a:r>
              <a:rPr sz="850" b="0" i="0">
                <a:solidFill>
                  <a:srgbClr val="9AA8B0"/>
                </a:solidFill>
                <a:latin typeface="Arial"/>
              </a:rPr>
              <a:t>An Integrated CFD Workflow Platform for In-House Solvers</a:t>
            </a:r>
          </a:p>
        </p:txBody>
      </p:sp>
      <p:sp>
        <p:nvSpPr>
          <p:cNvPr id="7" name="TextBox 6"/>
          <p:cNvSpPr txBox="1"/>
          <p:nvPr/>
        </p:nvSpPr>
        <p:spPr>
          <a:xfrm>
            <a:off x="10801807" y="6382512"/>
            <a:ext cx="731520" cy="219456"/>
          </a:xfrm>
          <a:prstGeom prst="rect">
            <a:avLst/>
          </a:prstGeom>
          <a:noFill/>
        </p:spPr>
        <p:txBody>
          <a:bodyPr wrap="square" lIns="0" rIns="0" tIns="0" bIns="0" anchor="t">
            <a:spAutoFit/>
          </a:bodyPr>
          <a:lstStyle/>
          <a:p>
            <a:pPr algn="r"/>
            <a:r>
              <a:rPr sz="950" b="1" i="0">
                <a:solidFill>
                  <a:srgbClr val="9AA8B0"/>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56032"/>
          </a:xfrm>
          <a:prstGeom prst="rect">
            <a:avLst/>
          </a:prstGeom>
          <a:noFill/>
        </p:spPr>
        <p:txBody>
          <a:bodyPr wrap="square" lIns="0" rIns="0" tIns="0" bIns="0" anchor="t">
            <a:spAutoFit/>
          </a:bodyPr>
          <a:lstStyle/>
          <a:p>
            <a:pPr algn="l"/>
            <a:r>
              <a:rPr sz="1150" b="1" i="0">
                <a:solidFill>
                  <a:srgbClr val="107A84"/>
                </a:solidFill>
                <a:latin typeface="Arial"/>
              </a:rPr>
              <a:t>THE REPRESENTATIVE CASE</a:t>
            </a:r>
          </a:p>
        </p:txBody>
      </p:sp>
      <p:sp>
        <p:nvSpPr>
          <p:cNvPr id="3" name="TextBox 2"/>
          <p:cNvSpPr txBox="1"/>
          <p:nvPr/>
        </p:nvSpPr>
        <p:spPr>
          <a:xfrm>
            <a:off x="658368" y="786384"/>
            <a:ext cx="10874959" cy="640080"/>
          </a:xfrm>
          <a:prstGeom prst="rect">
            <a:avLst/>
          </a:prstGeom>
          <a:noFill/>
        </p:spPr>
        <p:txBody>
          <a:bodyPr wrap="square" lIns="0" rIns="0" tIns="0" bIns="0" anchor="t">
            <a:spAutoFit/>
          </a:bodyPr>
          <a:lstStyle/>
          <a:p>
            <a:pPr algn="l"/>
            <a:r>
              <a:rPr sz="2700" b="1" i="0">
                <a:solidFill>
                  <a:srgbClr val="0B3552"/>
                </a:solidFill>
                <a:latin typeface="Arial"/>
              </a:rPr>
              <a:t>UNICONES</a:t>
            </a:r>
          </a:p>
        </p:txBody>
      </p:sp>
      <p:sp>
        <p:nvSpPr>
          <p:cNvPr id="4" name="TextBox 3"/>
          <p:cNvSpPr txBox="1"/>
          <p:nvPr/>
        </p:nvSpPr>
        <p:spPr>
          <a:xfrm>
            <a:off x="658368" y="1481328"/>
            <a:ext cx="9352464" cy="365760"/>
          </a:xfrm>
          <a:prstGeom prst="rect">
            <a:avLst/>
          </a:prstGeom>
          <a:noFill/>
        </p:spPr>
        <p:txBody>
          <a:bodyPr wrap="square" lIns="0" rIns="0" tIns="0" bIns="0" anchor="t">
            <a:spAutoFit/>
          </a:bodyPr>
          <a:lstStyle/>
          <a:p>
            <a:pPr algn="l"/>
            <a:r>
              <a:rPr sz="1400" b="0" i="0">
                <a:solidFill>
                  <a:srgbClr val="5B6B78"/>
                </a:solidFill>
                <a:latin typeface="Arial"/>
              </a:rPr>
              <a:t>A good solver with a familiarization cost measured in weeks.</a:t>
            </a:r>
          </a:p>
        </p:txBody>
      </p:sp>
      <p:sp>
        <p:nvSpPr>
          <p:cNvPr id="5" name="TextBox 4"/>
          <p:cNvSpPr txBox="1"/>
          <p:nvPr/>
        </p:nvSpPr>
        <p:spPr>
          <a:xfrm>
            <a:off x="658368" y="2130552"/>
            <a:ext cx="10004962" cy="4114800"/>
          </a:xfrm>
          <a:prstGeom prst="rect">
            <a:avLst/>
          </a:prstGeom>
          <a:noFill/>
        </p:spPr>
        <p:txBody>
          <a:bodyPr wrap="square" lIns="0" rIns="0" tIns="0" bIns="0" anchor="t">
            <a:spAutoFit/>
          </a:bodyPr>
          <a:lstStyle/>
          <a:p>
            <a:pPr algn="l">
              <a:spcBef>
                <a:spcPts val="0"/>
              </a:spcBef>
              <a:spcAft>
                <a:spcPts val="1100"/>
              </a:spcAft>
            </a:pPr>
            <a:r>
              <a:rPr sz="1500" b="1" i="0">
                <a:solidFill>
                  <a:srgbClr val="107A84"/>
                </a:solidFill>
                <a:latin typeface="Arial"/>
              </a:rPr>
              <a:t>—  </a:t>
            </a:r>
            <a:r>
              <a:rPr sz="1500" b="0" i="0">
                <a:solidFill>
                  <a:srgbClr val="14222E"/>
                </a:solidFill>
                <a:latin typeface="Arial"/>
              </a:rPr>
              <a:t>Compressible Euler / Navier–Stokes solver based on the </a:t>
            </a:r>
            <a:r>
              <a:rPr sz="1500" b="1" i="0">
                <a:solidFill>
                  <a:srgbClr val="14222E"/>
                </a:solidFill>
                <a:latin typeface="Arial"/>
              </a:rPr>
              <a:t>CESE</a:t>
            </a:r>
            <a:r>
              <a:rPr sz="1500" b="0" i="0">
                <a:solidFill>
                  <a:srgbClr val="14222E"/>
                </a:solidFill>
                <a:latin typeface="Arial"/>
              </a:rPr>
              <a:t> method</a:t>
            </a:r>
          </a:p>
          <a:p>
            <a:pPr>
              <a:spcBef>
                <a:spcPts val="0"/>
              </a:spcBef>
              <a:spcAft>
                <a:spcPts val="1100"/>
              </a:spcAft>
            </a:pPr>
            <a:r>
              <a:rPr sz="1500" b="1" i="0">
                <a:solidFill>
                  <a:srgbClr val="107A84"/>
                </a:solidFill>
                <a:latin typeface="Arial"/>
              </a:rPr>
              <a:t>—  </a:t>
            </a:r>
            <a:r>
              <a:rPr sz="1500" b="0" i="0">
                <a:solidFill>
                  <a:srgbClr val="14222E"/>
                </a:solidFill>
                <a:latin typeface="Arial"/>
              </a:rPr>
              <a:t>Developed at NCHC — National Institutes of Applied Research, Taiwan</a:t>
            </a:r>
          </a:p>
          <a:p>
            <a:pPr>
              <a:spcBef>
                <a:spcPts val="0"/>
              </a:spcBef>
              <a:spcAft>
                <a:spcPts val="1100"/>
              </a:spcAft>
            </a:pPr>
            <a:r>
              <a:rPr sz="1500" b="1" i="0">
                <a:solidFill>
                  <a:srgbClr val="107A84"/>
                </a:solidFill>
                <a:latin typeface="Arial"/>
              </a:rPr>
              <a:t>—  </a:t>
            </a:r>
            <a:r>
              <a:rPr sz="1500" b="0" i="0">
                <a:solidFill>
                  <a:srgbClr val="14222E"/>
                </a:solidFill>
                <a:latin typeface="Arial"/>
              </a:rPr>
              <a:t>Openly available academically, yet still requires weeks of guided effort</a:t>
            </a:r>
          </a:p>
          <a:p>
            <a:pPr>
              <a:spcBef>
                <a:spcPts val="0"/>
              </a:spcBef>
              <a:spcAft>
                <a:spcPts val="0"/>
              </a:spcAft>
            </a:pPr>
            <a:r>
              <a:rPr sz="1500" b="1" i="0">
                <a:solidFill>
                  <a:srgbClr val="107A84"/>
                </a:solidFill>
                <a:latin typeface="Arial"/>
              </a:rPr>
              <a:t>—  </a:t>
            </a:r>
            <a:r>
              <a:rPr sz="1500" b="0" i="0">
                <a:solidFill>
                  <a:srgbClr val="14222E"/>
                </a:solidFill>
                <a:latin typeface="Arial"/>
              </a:rPr>
              <a:t>High numerical maturity, limited adoption — </a:t>
            </a:r>
            <a:r>
              <a:rPr sz="1500" b="0" i="1">
                <a:solidFill>
                  <a:srgbClr val="14222E"/>
                </a:solidFill>
                <a:latin typeface="Arial"/>
              </a:rPr>
              <a:t>exactly</a:t>
            </a:r>
            <a:r>
              <a:rPr sz="1500" b="0" i="0">
                <a:solidFill>
                  <a:srgbClr val="14222E"/>
                </a:solidFill>
                <a:latin typeface="Arial"/>
              </a:rPr>
              <a:t> the gap this work targets</a:t>
            </a:r>
          </a:p>
        </p:txBody>
      </p:sp>
      <p:sp>
        <p:nvSpPr>
          <p:cNvPr id="6" name="TextBox 5"/>
          <p:cNvSpPr txBox="1"/>
          <p:nvPr/>
        </p:nvSpPr>
        <p:spPr>
          <a:xfrm>
            <a:off x="658368" y="6382512"/>
            <a:ext cx="7612471" cy="219456"/>
          </a:xfrm>
          <a:prstGeom prst="rect">
            <a:avLst/>
          </a:prstGeom>
          <a:noFill/>
        </p:spPr>
        <p:txBody>
          <a:bodyPr wrap="square" lIns="0" rIns="0" tIns="0" bIns="0" anchor="t">
            <a:spAutoFit/>
          </a:bodyPr>
          <a:lstStyle/>
          <a:p>
            <a:pPr algn="l"/>
            <a:r>
              <a:rPr sz="850" b="0" i="0">
                <a:solidFill>
                  <a:srgbClr val="9AA8B0"/>
                </a:solidFill>
                <a:latin typeface="Arial"/>
              </a:rPr>
              <a:t>An Integrated CFD Workflow Platform for In-House Solvers</a:t>
            </a:r>
          </a:p>
        </p:txBody>
      </p:sp>
      <p:sp>
        <p:nvSpPr>
          <p:cNvPr id="7" name="TextBox 6"/>
          <p:cNvSpPr txBox="1"/>
          <p:nvPr/>
        </p:nvSpPr>
        <p:spPr>
          <a:xfrm>
            <a:off x="10801807" y="6382512"/>
            <a:ext cx="731520" cy="219456"/>
          </a:xfrm>
          <a:prstGeom prst="rect">
            <a:avLst/>
          </a:prstGeom>
          <a:noFill/>
        </p:spPr>
        <p:txBody>
          <a:bodyPr wrap="square" lIns="0" rIns="0" tIns="0" bIns="0" anchor="t">
            <a:spAutoFit/>
          </a:bodyPr>
          <a:lstStyle/>
          <a:p>
            <a:pPr algn="r"/>
            <a:r>
              <a:rPr sz="950" b="1" i="0">
                <a:solidFill>
                  <a:srgbClr val="9AA8B0"/>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56032"/>
          </a:xfrm>
          <a:prstGeom prst="rect">
            <a:avLst/>
          </a:prstGeom>
          <a:noFill/>
        </p:spPr>
        <p:txBody>
          <a:bodyPr wrap="square" lIns="0" rIns="0" tIns="0" bIns="0" anchor="t">
            <a:spAutoFit/>
          </a:bodyPr>
          <a:lstStyle/>
          <a:p>
            <a:pPr algn="l"/>
            <a:r>
              <a:rPr sz="1150" b="1" i="0">
                <a:solidFill>
                  <a:srgbClr val="107A84"/>
                </a:solidFill>
                <a:latin typeface="Arial"/>
              </a:rPr>
              <a:t>CONTRIBUTIONS</a:t>
            </a:r>
          </a:p>
        </p:txBody>
      </p:sp>
      <p:sp>
        <p:nvSpPr>
          <p:cNvPr id="3" name="TextBox 2"/>
          <p:cNvSpPr txBox="1"/>
          <p:nvPr/>
        </p:nvSpPr>
        <p:spPr>
          <a:xfrm>
            <a:off x="658368" y="786384"/>
            <a:ext cx="10874959" cy="640080"/>
          </a:xfrm>
          <a:prstGeom prst="rect">
            <a:avLst/>
          </a:prstGeom>
          <a:noFill/>
        </p:spPr>
        <p:txBody>
          <a:bodyPr wrap="square" lIns="0" rIns="0" tIns="0" bIns="0" anchor="t">
            <a:spAutoFit/>
          </a:bodyPr>
          <a:lstStyle/>
          <a:p>
            <a:pPr algn="l"/>
            <a:r>
              <a:rPr sz="2700" b="1" i="0">
                <a:solidFill>
                  <a:srgbClr val="0B3552"/>
                </a:solidFill>
                <a:latin typeface="Arial"/>
              </a:rPr>
              <a:t>This paper contributes three things</a:t>
            </a:r>
          </a:p>
        </p:txBody>
      </p:sp>
      <p:sp>
        <p:nvSpPr>
          <p:cNvPr id="4" name="Rounded Rectangle 3"/>
          <p:cNvSpPr/>
          <p:nvPr/>
        </p:nvSpPr>
        <p:spPr>
          <a:xfrm>
            <a:off x="658368" y="1627632"/>
            <a:ext cx="3417722" cy="4443983"/>
          </a:xfrm>
          <a:prstGeom prst="roundRect">
            <a:avLst>
              <a:gd name="adj" fmla="val 6000"/>
            </a:avLst>
          </a:prstGeom>
          <a:solidFill>
            <a:srgbClr val="F2F6F8"/>
          </a:solidFill>
          <a:ln w="12700">
            <a:solidFill>
              <a:srgbClr val="D5D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1627632"/>
            <a:ext cx="3417722" cy="45720"/>
          </a:xfrm>
          <a:prstGeom prst="rect">
            <a:avLst/>
          </a:prstGeom>
          <a:solidFill>
            <a:srgbClr val="107A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843783"/>
            <a:ext cx="2869082" cy="384048"/>
          </a:xfrm>
          <a:prstGeom prst="rect">
            <a:avLst/>
          </a:prstGeom>
          <a:noFill/>
        </p:spPr>
        <p:txBody>
          <a:bodyPr wrap="square" lIns="0" rIns="0" tIns="0" bIns="0" anchor="t">
            <a:spAutoFit/>
          </a:bodyPr>
          <a:lstStyle/>
          <a:p>
            <a:pPr algn="l"/>
            <a:r>
              <a:rPr sz="2200" b="1" i="0">
                <a:solidFill>
                  <a:srgbClr val="107A84"/>
                </a:solidFill>
                <a:latin typeface="Arial"/>
              </a:rPr>
              <a:t>i</a:t>
            </a:r>
          </a:p>
        </p:txBody>
      </p:sp>
      <p:sp>
        <p:nvSpPr>
          <p:cNvPr id="7" name="TextBox 6"/>
          <p:cNvSpPr txBox="1"/>
          <p:nvPr/>
        </p:nvSpPr>
        <p:spPr>
          <a:xfrm>
            <a:off x="932688" y="3282695"/>
            <a:ext cx="2869082" cy="749808"/>
          </a:xfrm>
          <a:prstGeom prst="rect">
            <a:avLst/>
          </a:prstGeom>
          <a:noFill/>
        </p:spPr>
        <p:txBody>
          <a:bodyPr wrap="square" lIns="0" rIns="0" tIns="0" bIns="0" anchor="t">
            <a:spAutoFit/>
          </a:bodyPr>
          <a:lstStyle/>
          <a:p>
            <a:pPr algn="l"/>
            <a:r>
              <a:rPr sz="1550" b="1" i="0">
                <a:solidFill>
                  <a:srgbClr val="0B3552"/>
                </a:solidFill>
                <a:latin typeface="Arial"/>
              </a:rPr>
              <a:t>A modular solver-adapter interface</a:t>
            </a:r>
          </a:p>
        </p:txBody>
      </p:sp>
      <p:sp>
        <p:nvSpPr>
          <p:cNvPr id="8" name="TextBox 7"/>
          <p:cNvSpPr txBox="1"/>
          <p:nvPr/>
        </p:nvSpPr>
        <p:spPr>
          <a:xfrm>
            <a:off x="932688" y="4032503"/>
            <a:ext cx="2869082" cy="877824"/>
          </a:xfrm>
          <a:prstGeom prst="rect">
            <a:avLst/>
          </a:prstGeom>
          <a:noFill/>
        </p:spPr>
        <p:txBody>
          <a:bodyPr wrap="square" lIns="0" rIns="0" tIns="0" bIns="0" anchor="t">
            <a:spAutoFit/>
          </a:bodyPr>
          <a:lstStyle/>
          <a:p>
            <a:pPr algn="l"/>
            <a:r>
              <a:rPr sz="1200" b="0" i="0">
                <a:solidFill>
                  <a:srgbClr val="5B6B78"/>
                </a:solidFill>
                <a:latin typeface="Arial"/>
              </a:rPr>
              <a:t>Lightweight integration of heterogeneous solvers — lowering the adoption barrier for new users.</a:t>
            </a:r>
          </a:p>
        </p:txBody>
      </p:sp>
      <p:sp>
        <p:nvSpPr>
          <p:cNvPr id="9" name="Rounded Rectangle 8"/>
          <p:cNvSpPr/>
          <p:nvPr/>
        </p:nvSpPr>
        <p:spPr>
          <a:xfrm>
            <a:off x="4386986" y="1627632"/>
            <a:ext cx="3417722" cy="4443983"/>
          </a:xfrm>
          <a:prstGeom prst="roundRect">
            <a:avLst>
              <a:gd name="adj" fmla="val 6000"/>
            </a:avLst>
          </a:prstGeom>
          <a:solidFill>
            <a:srgbClr val="F2F6F8"/>
          </a:solidFill>
          <a:ln w="12700">
            <a:solidFill>
              <a:srgbClr val="D5D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6986" y="1627632"/>
            <a:ext cx="3417722" cy="45720"/>
          </a:xfrm>
          <a:prstGeom prst="rect">
            <a:avLst/>
          </a:prstGeom>
          <a:solidFill>
            <a:srgbClr val="107A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1306" y="2843783"/>
            <a:ext cx="2869082" cy="384048"/>
          </a:xfrm>
          <a:prstGeom prst="rect">
            <a:avLst/>
          </a:prstGeom>
          <a:noFill/>
        </p:spPr>
        <p:txBody>
          <a:bodyPr wrap="square" lIns="0" rIns="0" tIns="0" bIns="0" anchor="t">
            <a:spAutoFit/>
          </a:bodyPr>
          <a:lstStyle/>
          <a:p>
            <a:pPr algn="l"/>
            <a:r>
              <a:rPr sz="2200" b="1" i="0">
                <a:solidFill>
                  <a:srgbClr val="107A84"/>
                </a:solidFill>
                <a:latin typeface="Arial"/>
              </a:rPr>
              <a:t>ii</a:t>
            </a:r>
          </a:p>
        </p:txBody>
      </p:sp>
      <p:sp>
        <p:nvSpPr>
          <p:cNvPr id="12" name="TextBox 11"/>
          <p:cNvSpPr txBox="1"/>
          <p:nvPr/>
        </p:nvSpPr>
        <p:spPr>
          <a:xfrm>
            <a:off x="4661306" y="3282695"/>
            <a:ext cx="2869082" cy="749808"/>
          </a:xfrm>
          <a:prstGeom prst="rect">
            <a:avLst/>
          </a:prstGeom>
          <a:noFill/>
        </p:spPr>
        <p:txBody>
          <a:bodyPr wrap="square" lIns="0" rIns="0" tIns="0" bIns="0" anchor="t">
            <a:spAutoFit/>
          </a:bodyPr>
          <a:lstStyle/>
          <a:p>
            <a:pPr algn="l"/>
            <a:r>
              <a:rPr sz="1550" b="1" i="0">
                <a:solidFill>
                  <a:srgbClr val="0B3552"/>
                </a:solidFill>
                <a:latin typeface="Arial"/>
              </a:rPr>
              <a:t>A human–AI development methodology</a:t>
            </a:r>
          </a:p>
        </p:txBody>
      </p:sp>
      <p:sp>
        <p:nvSpPr>
          <p:cNvPr id="13" name="TextBox 12"/>
          <p:cNvSpPr txBox="1"/>
          <p:nvPr/>
        </p:nvSpPr>
        <p:spPr>
          <a:xfrm>
            <a:off x="4661306" y="4032503"/>
            <a:ext cx="2869082" cy="877824"/>
          </a:xfrm>
          <a:prstGeom prst="rect">
            <a:avLst/>
          </a:prstGeom>
          <a:noFill/>
        </p:spPr>
        <p:txBody>
          <a:bodyPr wrap="square" lIns="0" rIns="0" tIns="0" bIns="0" anchor="t">
            <a:spAutoFit/>
          </a:bodyPr>
          <a:lstStyle/>
          <a:p>
            <a:pPr algn="l"/>
            <a:r>
              <a:rPr sz="1200" b="0" i="0">
                <a:solidFill>
                  <a:srgbClr val="5B6B78"/>
                </a:solidFill>
                <a:latin typeface="Arial"/>
              </a:rPr>
              <a:t>Documented, with empirical observations on how the contribution was actually distributed.</a:t>
            </a:r>
          </a:p>
        </p:txBody>
      </p:sp>
      <p:sp>
        <p:nvSpPr>
          <p:cNvPr id="14" name="Rounded Rectangle 13"/>
          <p:cNvSpPr/>
          <p:nvPr/>
        </p:nvSpPr>
        <p:spPr>
          <a:xfrm>
            <a:off x="8115604" y="1627632"/>
            <a:ext cx="3417722" cy="4443983"/>
          </a:xfrm>
          <a:prstGeom prst="roundRect">
            <a:avLst>
              <a:gd name="adj" fmla="val 6000"/>
            </a:avLst>
          </a:prstGeom>
          <a:solidFill>
            <a:srgbClr val="F2F6F8"/>
          </a:solidFill>
          <a:ln w="12700">
            <a:solidFill>
              <a:srgbClr val="D5D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115604" y="1627632"/>
            <a:ext cx="3417722" cy="45720"/>
          </a:xfrm>
          <a:prstGeom prst="rect">
            <a:avLst/>
          </a:prstGeom>
          <a:solidFill>
            <a:srgbClr val="107A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89924" y="2843783"/>
            <a:ext cx="2869082" cy="384048"/>
          </a:xfrm>
          <a:prstGeom prst="rect">
            <a:avLst/>
          </a:prstGeom>
          <a:noFill/>
        </p:spPr>
        <p:txBody>
          <a:bodyPr wrap="square" lIns="0" rIns="0" tIns="0" bIns="0" anchor="t">
            <a:spAutoFit/>
          </a:bodyPr>
          <a:lstStyle/>
          <a:p>
            <a:pPr algn="l"/>
            <a:r>
              <a:rPr sz="2200" b="1" i="0">
                <a:solidFill>
                  <a:srgbClr val="107A84"/>
                </a:solidFill>
                <a:latin typeface="Arial"/>
              </a:rPr>
              <a:t>iii</a:t>
            </a:r>
          </a:p>
        </p:txBody>
      </p:sp>
      <p:sp>
        <p:nvSpPr>
          <p:cNvPr id="17" name="TextBox 16"/>
          <p:cNvSpPr txBox="1"/>
          <p:nvPr/>
        </p:nvSpPr>
        <p:spPr>
          <a:xfrm>
            <a:off x="8389924" y="3282695"/>
            <a:ext cx="2869082" cy="749808"/>
          </a:xfrm>
          <a:prstGeom prst="rect">
            <a:avLst/>
          </a:prstGeom>
          <a:noFill/>
        </p:spPr>
        <p:txBody>
          <a:bodyPr wrap="square" lIns="0" rIns="0" tIns="0" bIns="0" anchor="t">
            <a:spAutoFit/>
          </a:bodyPr>
          <a:lstStyle/>
          <a:p>
            <a:pPr algn="l"/>
            <a:r>
              <a:rPr sz="1550" b="1" i="0">
                <a:solidFill>
                  <a:srgbClr val="0B3552"/>
                </a:solidFill>
                <a:latin typeface="Arial"/>
              </a:rPr>
              <a:t>A generalizable design strategy</a:t>
            </a:r>
          </a:p>
        </p:txBody>
      </p:sp>
      <p:sp>
        <p:nvSpPr>
          <p:cNvPr id="18" name="TextBox 17"/>
          <p:cNvSpPr txBox="1"/>
          <p:nvPr/>
        </p:nvSpPr>
        <p:spPr>
          <a:xfrm>
            <a:off x="8389924" y="4032503"/>
            <a:ext cx="2869082" cy="877824"/>
          </a:xfrm>
          <a:prstGeom prst="rect">
            <a:avLst/>
          </a:prstGeom>
          <a:noFill/>
        </p:spPr>
        <p:txBody>
          <a:bodyPr wrap="square" lIns="0" rIns="0" tIns="0" bIns="0" anchor="t">
            <a:spAutoFit/>
          </a:bodyPr>
          <a:lstStyle/>
          <a:p>
            <a:pPr algn="l"/>
            <a:r>
              <a:rPr sz="1200" b="0" i="0">
                <a:solidFill>
                  <a:srgbClr val="5B6B78"/>
                </a:solidFill>
                <a:latin typeface="Arial"/>
              </a:rPr>
              <a:t>Workflow integration for research groups maintaining in-house solvers with limited software-engineering resources.</a:t>
            </a:r>
          </a:p>
        </p:txBody>
      </p:sp>
      <p:sp>
        <p:nvSpPr>
          <p:cNvPr id="19" name="TextBox 18"/>
          <p:cNvSpPr txBox="1"/>
          <p:nvPr/>
        </p:nvSpPr>
        <p:spPr>
          <a:xfrm>
            <a:off x="658368" y="6382512"/>
            <a:ext cx="7612471" cy="219456"/>
          </a:xfrm>
          <a:prstGeom prst="rect">
            <a:avLst/>
          </a:prstGeom>
          <a:noFill/>
        </p:spPr>
        <p:txBody>
          <a:bodyPr wrap="square" lIns="0" rIns="0" tIns="0" bIns="0" anchor="t">
            <a:spAutoFit/>
          </a:bodyPr>
          <a:lstStyle/>
          <a:p>
            <a:pPr algn="l"/>
            <a:r>
              <a:rPr sz="850" b="0" i="0">
                <a:solidFill>
                  <a:srgbClr val="9AA8B0"/>
                </a:solidFill>
                <a:latin typeface="Arial"/>
              </a:rPr>
              <a:t>An Integrated CFD Workflow Platform for In-House Solvers</a:t>
            </a:r>
          </a:p>
        </p:txBody>
      </p:sp>
      <p:sp>
        <p:nvSpPr>
          <p:cNvPr id="20" name="TextBox 19"/>
          <p:cNvSpPr txBox="1"/>
          <p:nvPr/>
        </p:nvSpPr>
        <p:spPr>
          <a:xfrm>
            <a:off x="10801807" y="6382512"/>
            <a:ext cx="731520" cy="219456"/>
          </a:xfrm>
          <a:prstGeom prst="rect">
            <a:avLst/>
          </a:prstGeom>
          <a:noFill/>
        </p:spPr>
        <p:txBody>
          <a:bodyPr wrap="square" lIns="0" rIns="0" tIns="0" bIns="0" anchor="t">
            <a:spAutoFit/>
          </a:bodyPr>
          <a:lstStyle/>
          <a:p>
            <a:pPr algn="r"/>
            <a:r>
              <a:rPr sz="950" b="1" i="0">
                <a:solidFill>
                  <a:srgbClr val="9AA8B0"/>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56032"/>
          </a:xfrm>
          <a:prstGeom prst="rect">
            <a:avLst/>
          </a:prstGeom>
          <a:noFill/>
        </p:spPr>
        <p:txBody>
          <a:bodyPr wrap="square" lIns="0" rIns="0" tIns="0" bIns="0" anchor="t">
            <a:spAutoFit/>
          </a:bodyPr>
          <a:lstStyle/>
          <a:p>
            <a:pPr algn="l"/>
            <a:r>
              <a:rPr sz="1150" b="1" i="0">
                <a:solidFill>
                  <a:srgbClr val="107A84"/>
                </a:solidFill>
                <a:latin typeface="Arial"/>
              </a:rPr>
              <a:t>SYSTEM ARCHITECTURE</a:t>
            </a:r>
          </a:p>
        </p:txBody>
      </p:sp>
      <p:sp>
        <p:nvSpPr>
          <p:cNvPr id="3" name="TextBox 2"/>
          <p:cNvSpPr txBox="1"/>
          <p:nvPr/>
        </p:nvSpPr>
        <p:spPr>
          <a:xfrm>
            <a:off x="658368" y="786384"/>
            <a:ext cx="10874959" cy="640080"/>
          </a:xfrm>
          <a:prstGeom prst="rect">
            <a:avLst/>
          </a:prstGeom>
          <a:noFill/>
        </p:spPr>
        <p:txBody>
          <a:bodyPr wrap="square" lIns="0" rIns="0" tIns="0" bIns="0" anchor="t">
            <a:spAutoFit/>
          </a:bodyPr>
          <a:lstStyle/>
          <a:p>
            <a:pPr algn="l"/>
            <a:r>
              <a:rPr sz="2700" b="1" i="0">
                <a:solidFill>
                  <a:srgbClr val="0B3552"/>
                </a:solidFill>
                <a:latin typeface="Arial"/>
              </a:rPr>
              <a:t>One environment, the whole pipeline</a:t>
            </a:r>
          </a:p>
        </p:txBody>
      </p:sp>
      <p:sp>
        <p:nvSpPr>
          <p:cNvPr id="4" name="TextBox 3"/>
          <p:cNvSpPr txBox="1"/>
          <p:nvPr/>
        </p:nvSpPr>
        <p:spPr>
          <a:xfrm>
            <a:off x="658368" y="1481328"/>
            <a:ext cx="9352464" cy="365760"/>
          </a:xfrm>
          <a:prstGeom prst="rect">
            <a:avLst/>
          </a:prstGeom>
          <a:noFill/>
        </p:spPr>
        <p:txBody>
          <a:bodyPr wrap="square" lIns="0" rIns="0" tIns="0" bIns="0" anchor="t">
            <a:spAutoFit/>
          </a:bodyPr>
          <a:lstStyle/>
          <a:p>
            <a:pPr algn="l"/>
            <a:r>
              <a:rPr sz="1400" b="0" i="0">
                <a:solidFill>
                  <a:srgbClr val="5B6B78"/>
                </a:solidFill>
                <a:latin typeface="Arial"/>
              </a:rPr>
              <a:t>Four modules, a single PyQt6 GUI, and automatic hand-off between every stage.</a:t>
            </a:r>
          </a:p>
        </p:txBody>
      </p:sp>
      <p:sp>
        <p:nvSpPr>
          <p:cNvPr id="5" name="Rounded Rectangle 4"/>
          <p:cNvSpPr/>
          <p:nvPr/>
        </p:nvSpPr>
        <p:spPr>
          <a:xfrm>
            <a:off x="658368" y="2176272"/>
            <a:ext cx="2430703" cy="1481328"/>
          </a:xfrm>
          <a:prstGeom prst="roundRect">
            <a:avLst>
              <a:gd name="adj" fmla="val 6000"/>
            </a:avLst>
          </a:prstGeom>
          <a:solidFill>
            <a:srgbClr val="F2F6F8"/>
          </a:solidFill>
          <a:ln w="12700">
            <a:solidFill>
              <a:srgbClr val="D5D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2176272"/>
            <a:ext cx="2430703" cy="50292"/>
          </a:xfrm>
          <a:prstGeom prst="rect">
            <a:avLst/>
          </a:prstGeom>
          <a:solidFill>
            <a:srgbClr val="107A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59" y="2450591"/>
            <a:ext cx="2101519" cy="457200"/>
          </a:xfrm>
          <a:prstGeom prst="rect">
            <a:avLst/>
          </a:prstGeom>
          <a:noFill/>
        </p:spPr>
        <p:txBody>
          <a:bodyPr wrap="square" lIns="0" rIns="0" tIns="0" bIns="0" anchor="t">
            <a:spAutoFit/>
          </a:bodyPr>
          <a:lstStyle/>
          <a:p>
            <a:pPr algn="ctr"/>
            <a:r>
              <a:rPr sz="1450" b="1" i="0">
                <a:solidFill>
                  <a:srgbClr val="0B3552"/>
                </a:solidFill>
                <a:latin typeface="Arial"/>
              </a:rPr>
              <a:t>PreProcessor</a:t>
            </a:r>
          </a:p>
        </p:txBody>
      </p:sp>
      <p:sp>
        <p:nvSpPr>
          <p:cNvPr id="8" name="TextBox 7"/>
          <p:cNvSpPr txBox="1"/>
          <p:nvPr/>
        </p:nvSpPr>
        <p:spPr>
          <a:xfrm>
            <a:off x="786384" y="2889504"/>
            <a:ext cx="2174671" cy="365760"/>
          </a:xfrm>
          <a:prstGeom prst="rect">
            <a:avLst/>
          </a:prstGeom>
          <a:noFill/>
        </p:spPr>
        <p:txBody>
          <a:bodyPr wrap="square" lIns="0" rIns="0" tIns="0" bIns="0" anchor="t">
            <a:spAutoFit/>
          </a:bodyPr>
          <a:lstStyle/>
          <a:p>
            <a:pPr algn="ctr"/>
            <a:r>
              <a:rPr sz="1050" b="0" i="0">
                <a:solidFill>
                  <a:srgbClr val="5B6B78"/>
                </a:solidFill>
                <a:latin typeface="Arial"/>
              </a:rPr>
              <a:t>Geometry &amp; surface points</a:t>
            </a:r>
          </a:p>
        </p:txBody>
      </p:sp>
      <p:sp>
        <p:nvSpPr>
          <p:cNvPr id="9" name="TextBox 8"/>
          <p:cNvSpPr txBox="1"/>
          <p:nvPr/>
        </p:nvSpPr>
        <p:spPr>
          <a:xfrm>
            <a:off x="786384" y="3255263"/>
            <a:ext cx="2174671" cy="310896"/>
          </a:xfrm>
          <a:prstGeom prst="rect">
            <a:avLst/>
          </a:prstGeom>
          <a:noFill/>
        </p:spPr>
        <p:txBody>
          <a:bodyPr wrap="square" lIns="0" rIns="0" tIns="0" bIns="0" anchor="t">
            <a:spAutoFit/>
          </a:bodyPr>
          <a:lstStyle/>
          <a:p>
            <a:pPr algn="ctr"/>
            <a:r>
              <a:rPr sz="1000" b="0" i="0">
                <a:solidFill>
                  <a:srgbClr val="107A84"/>
                </a:solidFill>
                <a:latin typeface="Arial"/>
              </a:rPr>
              <a:t>→ .dat / .csv</a:t>
            </a:r>
          </a:p>
        </p:txBody>
      </p:sp>
      <p:sp>
        <p:nvSpPr>
          <p:cNvPr id="10" name="Right Arrow 9"/>
          <p:cNvSpPr/>
          <p:nvPr/>
        </p:nvSpPr>
        <p:spPr>
          <a:xfrm>
            <a:off x="3153079" y="2825496"/>
            <a:ext cx="256031" cy="182880"/>
          </a:xfrm>
          <a:prstGeom prst="rightArrow">
            <a:avLst/>
          </a:prstGeom>
          <a:solidFill>
            <a:srgbClr val="B8C9D2"/>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473119" y="2176272"/>
            <a:ext cx="2430703" cy="1481328"/>
          </a:xfrm>
          <a:prstGeom prst="roundRect">
            <a:avLst>
              <a:gd name="adj" fmla="val 6000"/>
            </a:avLst>
          </a:prstGeom>
          <a:solidFill>
            <a:srgbClr val="F2F6F8"/>
          </a:solidFill>
          <a:ln w="12700">
            <a:solidFill>
              <a:srgbClr val="D5D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73119" y="2176272"/>
            <a:ext cx="2430703" cy="50292"/>
          </a:xfrm>
          <a:prstGeom prst="rect">
            <a:avLst/>
          </a:prstGeom>
          <a:solidFill>
            <a:srgbClr val="107A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37711" y="2450591"/>
            <a:ext cx="2101519" cy="457200"/>
          </a:xfrm>
          <a:prstGeom prst="rect">
            <a:avLst/>
          </a:prstGeom>
          <a:noFill/>
        </p:spPr>
        <p:txBody>
          <a:bodyPr wrap="square" lIns="0" rIns="0" tIns="0" bIns="0" anchor="t">
            <a:spAutoFit/>
          </a:bodyPr>
          <a:lstStyle/>
          <a:p>
            <a:pPr algn="ctr"/>
            <a:r>
              <a:rPr sz="1450" b="1" i="0">
                <a:solidFill>
                  <a:srgbClr val="0B3552"/>
                </a:solidFill>
                <a:latin typeface="Arial"/>
              </a:rPr>
              <a:t>Mesh Generator</a:t>
            </a:r>
          </a:p>
        </p:txBody>
      </p:sp>
      <p:sp>
        <p:nvSpPr>
          <p:cNvPr id="14" name="TextBox 13"/>
          <p:cNvSpPr txBox="1"/>
          <p:nvPr/>
        </p:nvSpPr>
        <p:spPr>
          <a:xfrm>
            <a:off x="3601135" y="2889504"/>
            <a:ext cx="2174671" cy="365760"/>
          </a:xfrm>
          <a:prstGeom prst="rect">
            <a:avLst/>
          </a:prstGeom>
          <a:noFill/>
        </p:spPr>
        <p:txBody>
          <a:bodyPr wrap="square" lIns="0" rIns="0" tIns="0" bIns="0" anchor="t">
            <a:spAutoFit/>
          </a:bodyPr>
          <a:lstStyle/>
          <a:p>
            <a:pPr algn="ctr"/>
            <a:r>
              <a:rPr sz="1050" b="0" i="0">
                <a:solidFill>
                  <a:srgbClr val="5B6B78"/>
                </a:solidFill>
                <a:latin typeface="Arial"/>
              </a:rPr>
              <a:t>Hybrid mesh generation</a:t>
            </a:r>
          </a:p>
        </p:txBody>
      </p:sp>
      <p:sp>
        <p:nvSpPr>
          <p:cNvPr id="15" name="TextBox 14"/>
          <p:cNvSpPr txBox="1"/>
          <p:nvPr/>
        </p:nvSpPr>
        <p:spPr>
          <a:xfrm>
            <a:off x="3601135" y="3255263"/>
            <a:ext cx="2174671" cy="310896"/>
          </a:xfrm>
          <a:prstGeom prst="rect">
            <a:avLst/>
          </a:prstGeom>
          <a:noFill/>
        </p:spPr>
        <p:txBody>
          <a:bodyPr wrap="square" lIns="0" rIns="0" tIns="0" bIns="0" anchor="t">
            <a:spAutoFit/>
          </a:bodyPr>
          <a:lstStyle/>
          <a:p>
            <a:pPr algn="ctr"/>
            <a:r>
              <a:rPr sz="1000" b="0" i="0">
                <a:solidFill>
                  <a:srgbClr val="107A84"/>
                </a:solidFill>
                <a:latin typeface="Arial"/>
              </a:rPr>
              <a:t>→ VTK + STAR-CD</a:t>
            </a:r>
          </a:p>
        </p:txBody>
      </p:sp>
      <p:sp>
        <p:nvSpPr>
          <p:cNvPr id="16" name="Right Arrow 15"/>
          <p:cNvSpPr/>
          <p:nvPr/>
        </p:nvSpPr>
        <p:spPr>
          <a:xfrm>
            <a:off x="5967831" y="2825496"/>
            <a:ext cx="256031" cy="182880"/>
          </a:xfrm>
          <a:prstGeom prst="rightArrow">
            <a:avLst/>
          </a:prstGeom>
          <a:solidFill>
            <a:srgbClr val="B8C9D2"/>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87871" y="2176272"/>
            <a:ext cx="2430703" cy="1481328"/>
          </a:xfrm>
          <a:prstGeom prst="roundRect">
            <a:avLst>
              <a:gd name="adj" fmla="val 6000"/>
            </a:avLst>
          </a:prstGeom>
          <a:solidFill>
            <a:srgbClr val="F2F6F8"/>
          </a:solidFill>
          <a:ln w="12700">
            <a:solidFill>
              <a:srgbClr val="D5D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87871" y="2176272"/>
            <a:ext cx="2430703" cy="50292"/>
          </a:xfrm>
          <a:prstGeom prst="rect">
            <a:avLst/>
          </a:prstGeom>
          <a:solidFill>
            <a:srgbClr val="107A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52463" y="2450591"/>
            <a:ext cx="2101519" cy="457200"/>
          </a:xfrm>
          <a:prstGeom prst="rect">
            <a:avLst/>
          </a:prstGeom>
          <a:noFill/>
        </p:spPr>
        <p:txBody>
          <a:bodyPr wrap="square" lIns="0" rIns="0" tIns="0" bIns="0" anchor="t">
            <a:spAutoFit/>
          </a:bodyPr>
          <a:lstStyle/>
          <a:p>
            <a:pPr algn="ctr"/>
            <a:r>
              <a:rPr sz="1450" b="1" i="0">
                <a:solidFill>
                  <a:srgbClr val="0B3552"/>
                </a:solidFill>
                <a:latin typeface="Arial"/>
              </a:rPr>
              <a:t>Core Solver</a:t>
            </a:r>
          </a:p>
        </p:txBody>
      </p:sp>
      <p:sp>
        <p:nvSpPr>
          <p:cNvPr id="20" name="TextBox 19"/>
          <p:cNvSpPr txBox="1"/>
          <p:nvPr/>
        </p:nvSpPr>
        <p:spPr>
          <a:xfrm>
            <a:off x="6415887" y="2889504"/>
            <a:ext cx="2174671" cy="365760"/>
          </a:xfrm>
          <a:prstGeom prst="rect">
            <a:avLst/>
          </a:prstGeom>
          <a:noFill/>
        </p:spPr>
        <p:txBody>
          <a:bodyPr wrap="square" lIns="0" rIns="0" tIns="0" bIns="0" anchor="t">
            <a:spAutoFit/>
          </a:bodyPr>
          <a:lstStyle/>
          <a:p>
            <a:pPr algn="ctr"/>
            <a:r>
              <a:rPr sz="1050" b="0" i="0">
                <a:solidFill>
                  <a:srgbClr val="5B6B78"/>
                </a:solidFill>
                <a:latin typeface="Arial"/>
              </a:rPr>
              <a:t>Execution + monitoring</a:t>
            </a:r>
          </a:p>
        </p:txBody>
      </p:sp>
      <p:sp>
        <p:nvSpPr>
          <p:cNvPr id="21" name="TextBox 20"/>
          <p:cNvSpPr txBox="1"/>
          <p:nvPr/>
        </p:nvSpPr>
        <p:spPr>
          <a:xfrm>
            <a:off x="6415887" y="3255263"/>
            <a:ext cx="2174671" cy="310896"/>
          </a:xfrm>
          <a:prstGeom prst="rect">
            <a:avLst/>
          </a:prstGeom>
          <a:noFill/>
        </p:spPr>
        <p:txBody>
          <a:bodyPr wrap="square" lIns="0" rIns="0" tIns="0" bIns="0" anchor="t">
            <a:spAutoFit/>
          </a:bodyPr>
          <a:lstStyle/>
          <a:p>
            <a:pPr algn="ctr"/>
            <a:r>
              <a:rPr sz="1000" b="0" i="0">
                <a:solidFill>
                  <a:srgbClr val="107A84"/>
                </a:solidFill>
                <a:latin typeface="Arial"/>
              </a:rPr>
              <a:t>→ Tecplot format</a:t>
            </a:r>
          </a:p>
        </p:txBody>
      </p:sp>
      <p:sp>
        <p:nvSpPr>
          <p:cNvPr id="22" name="Right Arrow 21"/>
          <p:cNvSpPr/>
          <p:nvPr/>
        </p:nvSpPr>
        <p:spPr>
          <a:xfrm>
            <a:off x="8782583" y="2825496"/>
            <a:ext cx="256031" cy="182880"/>
          </a:xfrm>
          <a:prstGeom prst="rightArrow">
            <a:avLst/>
          </a:prstGeom>
          <a:solidFill>
            <a:srgbClr val="B8C9D2"/>
          </a:solidFill>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9102623" y="2176272"/>
            <a:ext cx="2430703" cy="1481328"/>
          </a:xfrm>
          <a:prstGeom prst="roundRect">
            <a:avLst>
              <a:gd name="adj" fmla="val 6000"/>
            </a:avLst>
          </a:prstGeom>
          <a:solidFill>
            <a:srgbClr val="F2F6F8"/>
          </a:solidFill>
          <a:ln w="12700">
            <a:solidFill>
              <a:srgbClr val="D5D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9102623" y="2176272"/>
            <a:ext cx="2430703" cy="50292"/>
          </a:xfrm>
          <a:prstGeom prst="rect">
            <a:avLst/>
          </a:prstGeom>
          <a:solidFill>
            <a:srgbClr val="107A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267215" y="2450591"/>
            <a:ext cx="2101519" cy="457200"/>
          </a:xfrm>
          <a:prstGeom prst="rect">
            <a:avLst/>
          </a:prstGeom>
          <a:noFill/>
        </p:spPr>
        <p:txBody>
          <a:bodyPr wrap="square" lIns="0" rIns="0" tIns="0" bIns="0" anchor="t">
            <a:spAutoFit/>
          </a:bodyPr>
          <a:lstStyle/>
          <a:p>
            <a:pPr algn="ctr"/>
            <a:r>
              <a:rPr sz="1450" b="1" i="0">
                <a:solidFill>
                  <a:srgbClr val="0B3552"/>
                </a:solidFill>
                <a:latin typeface="Arial"/>
              </a:rPr>
              <a:t>Results Visualization</a:t>
            </a:r>
          </a:p>
        </p:txBody>
      </p:sp>
      <p:sp>
        <p:nvSpPr>
          <p:cNvPr id="26" name="TextBox 25"/>
          <p:cNvSpPr txBox="1"/>
          <p:nvPr/>
        </p:nvSpPr>
        <p:spPr>
          <a:xfrm>
            <a:off x="9230639" y="2889504"/>
            <a:ext cx="2174671" cy="365760"/>
          </a:xfrm>
          <a:prstGeom prst="rect">
            <a:avLst/>
          </a:prstGeom>
          <a:noFill/>
        </p:spPr>
        <p:txBody>
          <a:bodyPr wrap="square" lIns="0" rIns="0" tIns="0" bIns="0" anchor="t">
            <a:spAutoFit/>
          </a:bodyPr>
          <a:lstStyle/>
          <a:p>
            <a:pPr algn="ctr"/>
            <a:r>
              <a:rPr sz="1050" b="0" i="0">
                <a:solidFill>
                  <a:srgbClr val="5B6B78"/>
                </a:solidFill>
                <a:latin typeface="Arial"/>
              </a:rPr>
              <a:t>Tecplot parser</a:t>
            </a:r>
          </a:p>
        </p:txBody>
      </p:sp>
      <p:sp>
        <p:nvSpPr>
          <p:cNvPr id="27" name="TextBox 26"/>
          <p:cNvSpPr txBox="1"/>
          <p:nvPr/>
        </p:nvSpPr>
        <p:spPr>
          <a:xfrm>
            <a:off x="9230639" y="3255263"/>
            <a:ext cx="2174671" cy="310896"/>
          </a:xfrm>
          <a:prstGeom prst="rect">
            <a:avLst/>
          </a:prstGeom>
          <a:noFill/>
        </p:spPr>
        <p:txBody>
          <a:bodyPr wrap="square" lIns="0" rIns="0" tIns="0" bIns="0" anchor="t">
            <a:spAutoFit/>
          </a:bodyPr>
          <a:lstStyle/>
          <a:p>
            <a:pPr algn="ctr"/>
            <a:r>
              <a:rPr sz="1000" b="0" i="0">
                <a:solidFill>
                  <a:srgbClr val="107A84"/>
                </a:solidFill>
                <a:latin typeface="Arial"/>
              </a:rPr>
              <a:t>→ graph / contour</a:t>
            </a:r>
          </a:p>
        </p:txBody>
      </p:sp>
      <p:sp>
        <p:nvSpPr>
          <p:cNvPr id="28" name="Rounded Rectangle 27"/>
          <p:cNvSpPr/>
          <p:nvPr/>
        </p:nvSpPr>
        <p:spPr>
          <a:xfrm>
            <a:off x="3473119" y="4133087"/>
            <a:ext cx="8060207" cy="1572768"/>
          </a:xfrm>
          <a:prstGeom prst="roundRect">
            <a:avLst>
              <a:gd name="adj" fmla="val 6000"/>
            </a:avLst>
          </a:prstGeom>
          <a:solidFill>
            <a:srgbClr val="E8F2F3"/>
          </a:solidFill>
          <a:ln w="12700">
            <a:solidFill>
              <a:srgbClr val="A9D3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747439" y="4334255"/>
            <a:ext cx="7511567" cy="329184"/>
          </a:xfrm>
          <a:prstGeom prst="rect">
            <a:avLst/>
          </a:prstGeom>
          <a:noFill/>
        </p:spPr>
        <p:txBody>
          <a:bodyPr wrap="square" lIns="0" rIns="0" tIns="0" bIns="0" anchor="t">
            <a:spAutoFit/>
          </a:bodyPr>
          <a:lstStyle/>
          <a:p>
            <a:pPr algn="l"/>
            <a:r>
              <a:rPr sz="1400" b="1" i="0">
                <a:solidFill>
                  <a:srgbClr val="107A84"/>
                </a:solidFill>
                <a:latin typeface="Arial"/>
              </a:rPr>
              <a:t>Solver Adapter</a:t>
            </a:r>
          </a:p>
        </p:txBody>
      </p:sp>
      <p:sp>
        <p:nvSpPr>
          <p:cNvPr id="30" name="Rounded Rectangle 29"/>
          <p:cNvSpPr/>
          <p:nvPr/>
        </p:nvSpPr>
        <p:spPr>
          <a:xfrm>
            <a:off x="3747439" y="4828031"/>
            <a:ext cx="2333167" cy="566928"/>
          </a:xfrm>
          <a:prstGeom prst="roundRect">
            <a:avLst>
              <a:gd name="adj" fmla="val 6000"/>
            </a:avLst>
          </a:prstGeom>
          <a:solidFill>
            <a:srgbClr val="FFFFFF"/>
          </a:solidFill>
          <a:ln w="12700">
            <a:solidFill>
              <a:srgbClr val="A9D3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747439" y="4828031"/>
            <a:ext cx="2333167" cy="566928"/>
          </a:xfrm>
          <a:prstGeom prst="rect">
            <a:avLst/>
          </a:prstGeom>
          <a:noFill/>
        </p:spPr>
        <p:txBody>
          <a:bodyPr wrap="square" lIns="0" rIns="0" tIns="0" bIns="0" anchor="ctr">
            <a:spAutoFit/>
          </a:bodyPr>
          <a:lstStyle/>
          <a:p>
            <a:pPr algn="ctr"/>
            <a:r>
              <a:rPr sz="1150" b="1" i="0">
                <a:solidFill>
                  <a:srgbClr val="0B3552"/>
                </a:solidFill>
                <a:latin typeface="Consolas"/>
              </a:rPr>
              <a:t>convert_mesh()</a:t>
            </a:r>
          </a:p>
        </p:txBody>
      </p:sp>
      <p:sp>
        <p:nvSpPr>
          <p:cNvPr id="32" name="Rounded Rectangle 31"/>
          <p:cNvSpPr/>
          <p:nvPr/>
        </p:nvSpPr>
        <p:spPr>
          <a:xfrm>
            <a:off x="6336639" y="4828031"/>
            <a:ext cx="2333167" cy="566928"/>
          </a:xfrm>
          <a:prstGeom prst="roundRect">
            <a:avLst>
              <a:gd name="adj" fmla="val 6000"/>
            </a:avLst>
          </a:prstGeom>
          <a:solidFill>
            <a:srgbClr val="FFFFFF"/>
          </a:solidFill>
          <a:ln w="12700">
            <a:solidFill>
              <a:srgbClr val="A9D3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36639" y="4828031"/>
            <a:ext cx="2333167" cy="566928"/>
          </a:xfrm>
          <a:prstGeom prst="rect">
            <a:avLst/>
          </a:prstGeom>
          <a:noFill/>
        </p:spPr>
        <p:txBody>
          <a:bodyPr wrap="square" lIns="0" rIns="0" tIns="0" bIns="0" anchor="ctr">
            <a:spAutoFit/>
          </a:bodyPr>
          <a:lstStyle/>
          <a:p>
            <a:pPr algn="ctr"/>
            <a:r>
              <a:rPr sz="1150" b="1" i="0">
                <a:solidFill>
                  <a:srgbClr val="0B3552"/>
                </a:solidFill>
                <a:latin typeface="Consolas"/>
              </a:rPr>
              <a:t>parse_stdout()</a:t>
            </a:r>
          </a:p>
        </p:txBody>
      </p:sp>
      <p:sp>
        <p:nvSpPr>
          <p:cNvPr id="34" name="Rounded Rectangle 33"/>
          <p:cNvSpPr/>
          <p:nvPr/>
        </p:nvSpPr>
        <p:spPr>
          <a:xfrm>
            <a:off x="8925839" y="4828031"/>
            <a:ext cx="2333167" cy="566928"/>
          </a:xfrm>
          <a:prstGeom prst="roundRect">
            <a:avLst>
              <a:gd name="adj" fmla="val 6000"/>
            </a:avLst>
          </a:prstGeom>
          <a:solidFill>
            <a:srgbClr val="FFFFFF"/>
          </a:solidFill>
          <a:ln w="12700">
            <a:solidFill>
              <a:srgbClr val="A9D3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925839" y="4828031"/>
            <a:ext cx="2333167" cy="566928"/>
          </a:xfrm>
          <a:prstGeom prst="rect">
            <a:avLst/>
          </a:prstGeom>
          <a:noFill/>
        </p:spPr>
        <p:txBody>
          <a:bodyPr wrap="square" lIns="0" rIns="0" tIns="0" bIns="0" anchor="ctr">
            <a:spAutoFit/>
          </a:bodyPr>
          <a:lstStyle/>
          <a:p>
            <a:pPr algn="ctr"/>
            <a:r>
              <a:rPr sz="1150" b="1" i="0">
                <a:solidFill>
                  <a:srgbClr val="0B3552"/>
                </a:solidFill>
                <a:latin typeface="Consolas"/>
              </a:rPr>
              <a:t>read_results()</a:t>
            </a:r>
          </a:p>
        </p:txBody>
      </p:sp>
      <p:sp>
        <p:nvSpPr>
          <p:cNvPr id="36" name="TextBox 35"/>
          <p:cNvSpPr txBox="1"/>
          <p:nvPr/>
        </p:nvSpPr>
        <p:spPr>
          <a:xfrm>
            <a:off x="658368" y="6071616"/>
            <a:ext cx="10874959" cy="274320"/>
          </a:xfrm>
          <a:prstGeom prst="rect">
            <a:avLst/>
          </a:prstGeom>
          <a:noFill/>
        </p:spPr>
        <p:txBody>
          <a:bodyPr wrap="square" lIns="0" rIns="0" tIns="0" bIns="0" anchor="t">
            <a:spAutoFit/>
          </a:bodyPr>
          <a:lstStyle/>
          <a:p>
            <a:pPr algn="l"/>
            <a:r>
              <a:rPr sz="1050" b="0" i="1">
                <a:solidFill>
                  <a:srgbClr val="5B6B78"/>
                </a:solidFill>
                <a:latin typeface="Arial"/>
              </a:rPr>
              <a:t>Fig. 1  Data flow of the integrated CFD workflow platform.</a:t>
            </a:r>
          </a:p>
        </p:txBody>
      </p:sp>
      <p:sp>
        <p:nvSpPr>
          <p:cNvPr id="37" name="TextBox 36"/>
          <p:cNvSpPr txBox="1"/>
          <p:nvPr/>
        </p:nvSpPr>
        <p:spPr>
          <a:xfrm>
            <a:off x="658368" y="6382512"/>
            <a:ext cx="7612471" cy="219456"/>
          </a:xfrm>
          <a:prstGeom prst="rect">
            <a:avLst/>
          </a:prstGeom>
          <a:noFill/>
        </p:spPr>
        <p:txBody>
          <a:bodyPr wrap="square" lIns="0" rIns="0" tIns="0" bIns="0" anchor="t">
            <a:spAutoFit/>
          </a:bodyPr>
          <a:lstStyle/>
          <a:p>
            <a:pPr algn="l"/>
            <a:r>
              <a:rPr sz="850" b="0" i="0">
                <a:solidFill>
                  <a:srgbClr val="9AA8B0"/>
                </a:solidFill>
                <a:latin typeface="Arial"/>
              </a:rPr>
              <a:t>An Integrated CFD Workflow Platform for In-House Solvers</a:t>
            </a:r>
          </a:p>
        </p:txBody>
      </p:sp>
      <p:sp>
        <p:nvSpPr>
          <p:cNvPr id="38" name="TextBox 37"/>
          <p:cNvSpPr txBox="1"/>
          <p:nvPr/>
        </p:nvSpPr>
        <p:spPr>
          <a:xfrm>
            <a:off x="10801807" y="6382512"/>
            <a:ext cx="731520" cy="219456"/>
          </a:xfrm>
          <a:prstGeom prst="rect">
            <a:avLst/>
          </a:prstGeom>
          <a:noFill/>
        </p:spPr>
        <p:txBody>
          <a:bodyPr wrap="square" lIns="0" rIns="0" tIns="0" bIns="0" anchor="t">
            <a:spAutoFit/>
          </a:bodyPr>
          <a:lstStyle/>
          <a:p>
            <a:pPr algn="r"/>
            <a:r>
              <a:rPr sz="950" b="1" i="0">
                <a:solidFill>
                  <a:srgbClr val="9AA8B0"/>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56032"/>
          </a:xfrm>
          <a:prstGeom prst="rect">
            <a:avLst/>
          </a:prstGeom>
          <a:noFill/>
        </p:spPr>
        <p:txBody>
          <a:bodyPr wrap="square" lIns="0" rIns="0" tIns="0" bIns="0" anchor="t">
            <a:spAutoFit/>
          </a:bodyPr>
          <a:lstStyle/>
          <a:p>
            <a:pPr algn="l"/>
            <a:r>
              <a:rPr sz="1150" b="1" i="0">
                <a:solidFill>
                  <a:srgbClr val="107A84"/>
                </a:solidFill>
                <a:latin typeface="Arial"/>
              </a:rPr>
              <a:t>MODULE 1</a:t>
            </a:r>
          </a:p>
        </p:txBody>
      </p:sp>
      <p:sp>
        <p:nvSpPr>
          <p:cNvPr id="3" name="TextBox 2"/>
          <p:cNvSpPr txBox="1"/>
          <p:nvPr/>
        </p:nvSpPr>
        <p:spPr>
          <a:xfrm>
            <a:off x="658368" y="786384"/>
            <a:ext cx="10874959" cy="640080"/>
          </a:xfrm>
          <a:prstGeom prst="rect">
            <a:avLst/>
          </a:prstGeom>
          <a:noFill/>
        </p:spPr>
        <p:txBody>
          <a:bodyPr wrap="square" lIns="0" rIns="0" tIns="0" bIns="0" anchor="t">
            <a:spAutoFit/>
          </a:bodyPr>
          <a:lstStyle/>
          <a:p>
            <a:pPr algn="l"/>
            <a:r>
              <a:rPr sz="2700" b="1" i="0">
                <a:solidFill>
                  <a:srgbClr val="0B3552"/>
                </a:solidFill>
                <a:latin typeface="Arial"/>
              </a:rPr>
              <a:t>PreProcessor — geometry preparation</a:t>
            </a:r>
          </a:p>
        </p:txBody>
      </p:sp>
      <p:sp>
        <p:nvSpPr>
          <p:cNvPr id="4" name="TextBox 3"/>
          <p:cNvSpPr txBox="1"/>
          <p:nvPr/>
        </p:nvSpPr>
        <p:spPr>
          <a:xfrm>
            <a:off x="658368" y="1709928"/>
            <a:ext cx="10004962" cy="4114800"/>
          </a:xfrm>
          <a:prstGeom prst="rect">
            <a:avLst/>
          </a:prstGeom>
          <a:noFill/>
        </p:spPr>
        <p:txBody>
          <a:bodyPr wrap="square" lIns="0" rIns="0" tIns="0" bIns="0" anchor="t">
            <a:spAutoFit/>
          </a:bodyPr>
          <a:lstStyle/>
          <a:p>
            <a:pPr algn="l">
              <a:spcBef>
                <a:spcPts val="0"/>
              </a:spcBef>
              <a:spcAft>
                <a:spcPts val="1100"/>
              </a:spcAft>
            </a:pPr>
            <a:r>
              <a:rPr sz="1500" b="1" i="0">
                <a:solidFill>
                  <a:srgbClr val="107A84"/>
                </a:solidFill>
                <a:latin typeface="Arial"/>
              </a:rPr>
              <a:t>—  </a:t>
            </a:r>
            <a:r>
              <a:rPr sz="1500" b="0" i="0">
                <a:solidFill>
                  <a:srgbClr val="14222E"/>
                </a:solidFill>
                <a:latin typeface="Arial"/>
              </a:rPr>
              <a:t>Interactive geometry canvas</a:t>
            </a:r>
          </a:p>
          <a:p>
            <a:pPr>
              <a:spcBef>
                <a:spcPts val="0"/>
              </a:spcBef>
              <a:spcAft>
                <a:spcPts val="1100"/>
              </a:spcAft>
            </a:pPr>
            <a:r>
              <a:rPr sz="1500" b="1" i="0">
                <a:solidFill>
                  <a:srgbClr val="107A84"/>
                </a:solidFill>
                <a:latin typeface="Arial"/>
              </a:rPr>
              <a:t>—  </a:t>
            </a:r>
            <a:r>
              <a:rPr sz="1500" b="0" i="0">
                <a:solidFill>
                  <a:srgbClr val="14222E"/>
                </a:solidFill>
                <a:latin typeface="Arial"/>
              </a:rPr>
              <a:t>Multiple point-spacing strategies</a:t>
            </a:r>
          </a:p>
          <a:p>
            <a:pPr>
              <a:spcBef>
                <a:spcPts val="0"/>
              </a:spcBef>
              <a:spcAft>
                <a:spcPts val="1100"/>
              </a:spcAft>
            </a:pPr>
            <a:r>
              <a:rPr sz="1500" b="1" i="0">
                <a:solidFill>
                  <a:srgbClr val="107A84"/>
                </a:solidFill>
                <a:latin typeface="Arial"/>
              </a:rPr>
              <a:t>—  </a:t>
            </a:r>
            <a:r>
              <a:rPr sz="1500" b="0" i="0">
                <a:solidFill>
                  <a:srgbClr val="14222E"/>
                </a:solidFill>
                <a:latin typeface="Arial"/>
              </a:rPr>
              <a:t>Automatic sharp-corner detection</a:t>
            </a:r>
          </a:p>
          <a:p>
            <a:pPr>
              <a:spcBef>
                <a:spcPts val="0"/>
              </a:spcBef>
              <a:spcAft>
                <a:spcPts val="1100"/>
              </a:spcAft>
            </a:pPr>
            <a:r>
              <a:rPr sz="1500" b="1" i="0">
                <a:solidFill>
                  <a:srgbClr val="107A84"/>
                </a:solidFill>
                <a:latin typeface="Arial"/>
              </a:rPr>
              <a:t>—  </a:t>
            </a:r>
            <a:r>
              <a:rPr sz="1500" b="0" i="0">
                <a:solidFill>
                  <a:srgbClr val="14222E"/>
                </a:solidFill>
                <a:latin typeface="Arial"/>
              </a:rPr>
              <a:t>Per-segment resampling</a:t>
            </a:r>
          </a:p>
          <a:p>
            <a:pPr>
              <a:spcBef>
                <a:spcPts val="0"/>
              </a:spcBef>
              <a:spcAft>
                <a:spcPts val="0"/>
              </a:spcAft>
            </a:pPr>
            <a:r>
              <a:rPr sz="1500" b="1" i="0">
                <a:solidFill>
                  <a:srgbClr val="107A84"/>
                </a:solidFill>
                <a:latin typeface="Arial"/>
              </a:rPr>
              <a:t>—  </a:t>
            </a:r>
            <a:r>
              <a:rPr sz="1500" b="0" i="0">
                <a:solidFill>
                  <a:srgbClr val="14222E"/>
                </a:solidFill>
                <a:latin typeface="Arial"/>
              </a:rPr>
              <a:t>Standalone C++ backend</a:t>
            </a:r>
          </a:p>
        </p:txBody>
      </p:sp>
      <p:sp>
        <p:nvSpPr>
          <p:cNvPr id="5" name="TextBox 4"/>
          <p:cNvSpPr txBox="1"/>
          <p:nvPr/>
        </p:nvSpPr>
        <p:spPr>
          <a:xfrm>
            <a:off x="658368" y="6382512"/>
            <a:ext cx="7612471" cy="219456"/>
          </a:xfrm>
          <a:prstGeom prst="rect">
            <a:avLst/>
          </a:prstGeom>
          <a:noFill/>
        </p:spPr>
        <p:txBody>
          <a:bodyPr wrap="square" lIns="0" rIns="0" tIns="0" bIns="0" anchor="t">
            <a:spAutoFit/>
          </a:bodyPr>
          <a:lstStyle/>
          <a:p>
            <a:pPr algn="l"/>
            <a:r>
              <a:rPr sz="850" b="0" i="0">
                <a:solidFill>
                  <a:srgbClr val="9AA8B0"/>
                </a:solidFill>
                <a:latin typeface="Arial"/>
              </a:rPr>
              <a:t>An Integrated CFD Workflow Platform for In-House Solvers</a:t>
            </a:r>
          </a:p>
        </p:txBody>
      </p:sp>
      <p:sp>
        <p:nvSpPr>
          <p:cNvPr id="6" name="TextBox 5"/>
          <p:cNvSpPr txBox="1"/>
          <p:nvPr/>
        </p:nvSpPr>
        <p:spPr>
          <a:xfrm>
            <a:off x="10801807" y="6382512"/>
            <a:ext cx="731520" cy="219456"/>
          </a:xfrm>
          <a:prstGeom prst="rect">
            <a:avLst/>
          </a:prstGeom>
          <a:noFill/>
        </p:spPr>
        <p:txBody>
          <a:bodyPr wrap="square" lIns="0" rIns="0" tIns="0" bIns="0" anchor="t">
            <a:spAutoFit/>
          </a:bodyPr>
          <a:lstStyle/>
          <a:p>
            <a:pPr algn="r"/>
            <a:r>
              <a:rPr sz="950" b="1" i="0">
                <a:solidFill>
                  <a:srgbClr val="9AA8B0"/>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56032"/>
          </a:xfrm>
          <a:prstGeom prst="rect">
            <a:avLst/>
          </a:prstGeom>
          <a:noFill/>
        </p:spPr>
        <p:txBody>
          <a:bodyPr wrap="square" lIns="0" rIns="0" tIns="0" bIns="0" anchor="t">
            <a:spAutoFit/>
          </a:bodyPr>
          <a:lstStyle/>
          <a:p>
            <a:pPr algn="l"/>
            <a:r>
              <a:rPr sz="1150" b="1" i="0">
                <a:solidFill>
                  <a:srgbClr val="107A84"/>
                </a:solidFill>
                <a:latin typeface="Arial"/>
              </a:rPr>
              <a:t>MODULE 2</a:t>
            </a:r>
          </a:p>
        </p:txBody>
      </p:sp>
      <p:sp>
        <p:nvSpPr>
          <p:cNvPr id="3" name="TextBox 2"/>
          <p:cNvSpPr txBox="1"/>
          <p:nvPr/>
        </p:nvSpPr>
        <p:spPr>
          <a:xfrm>
            <a:off x="658368" y="786384"/>
            <a:ext cx="10874959" cy="640080"/>
          </a:xfrm>
          <a:prstGeom prst="rect">
            <a:avLst/>
          </a:prstGeom>
          <a:noFill/>
        </p:spPr>
        <p:txBody>
          <a:bodyPr wrap="square" lIns="0" rIns="0" tIns="0" bIns="0" anchor="t">
            <a:spAutoFit/>
          </a:bodyPr>
          <a:lstStyle/>
          <a:p>
            <a:pPr algn="l"/>
            <a:r>
              <a:rPr sz="2700" b="1" i="0">
                <a:solidFill>
                  <a:srgbClr val="0B3552"/>
                </a:solidFill>
                <a:latin typeface="Arial"/>
              </a:rPr>
              <a:t>Mesh Generator — 2D hybrid meshes</a:t>
            </a:r>
          </a:p>
        </p:txBody>
      </p:sp>
      <p:pic>
        <p:nvPicPr>
          <p:cNvPr id="4" name="Picture 3" descr="ogrid.png"/>
          <p:cNvPicPr>
            <a:picLocks noChangeAspect="1"/>
          </p:cNvPicPr>
          <p:nvPr/>
        </p:nvPicPr>
        <p:blipFill>
          <a:blip r:embed="rId2"/>
          <a:stretch>
            <a:fillRect/>
          </a:stretch>
        </p:blipFill>
        <p:spPr>
          <a:xfrm>
            <a:off x="658368" y="1700784"/>
            <a:ext cx="3612391" cy="3520440"/>
          </a:xfrm>
          <a:prstGeom prst="rect">
            <a:avLst/>
          </a:prstGeom>
        </p:spPr>
      </p:pic>
      <p:sp>
        <p:nvSpPr>
          <p:cNvPr id="5" name="TextBox 4"/>
          <p:cNvSpPr txBox="1"/>
          <p:nvPr/>
        </p:nvSpPr>
        <p:spPr>
          <a:xfrm>
            <a:off x="658368" y="5276088"/>
            <a:ext cx="5943600" cy="457200"/>
          </a:xfrm>
          <a:prstGeom prst="rect">
            <a:avLst/>
          </a:prstGeom>
          <a:noFill/>
        </p:spPr>
        <p:txBody>
          <a:bodyPr wrap="square" lIns="0" rIns="0" tIns="0" bIns="0" anchor="t">
            <a:spAutoFit/>
          </a:bodyPr>
          <a:lstStyle/>
          <a:p>
            <a:pPr algn="l"/>
            <a:r>
              <a:rPr sz="1050" b="0" i="1">
                <a:solidFill>
                  <a:srgbClr val="5B6B78"/>
                </a:solidFill>
                <a:latin typeface="Arial"/>
              </a:rPr>
              <a:t>Structured boundary-layer quads growing from the body, unstructured triangles filling the far field.</a:t>
            </a:r>
          </a:p>
        </p:txBody>
      </p:sp>
      <p:sp>
        <p:nvSpPr>
          <p:cNvPr id="6" name="TextBox 5"/>
          <p:cNvSpPr txBox="1"/>
          <p:nvPr/>
        </p:nvSpPr>
        <p:spPr>
          <a:xfrm>
            <a:off x="7059168" y="1892808"/>
            <a:ext cx="4474159" cy="4114800"/>
          </a:xfrm>
          <a:prstGeom prst="rect">
            <a:avLst/>
          </a:prstGeom>
          <a:noFill/>
        </p:spPr>
        <p:txBody>
          <a:bodyPr wrap="square" lIns="0" rIns="0" tIns="0" bIns="0" anchor="t">
            <a:spAutoFit/>
          </a:bodyPr>
          <a:lstStyle/>
          <a:p>
            <a:pPr algn="l">
              <a:spcBef>
                <a:spcPts val="0"/>
              </a:spcBef>
              <a:spcAft>
                <a:spcPts val="1100"/>
              </a:spcAft>
            </a:pPr>
            <a:r>
              <a:rPr sz="1350" b="1" i="0">
                <a:solidFill>
                  <a:srgbClr val="107A84"/>
                </a:solidFill>
                <a:latin typeface="Arial"/>
              </a:rPr>
              <a:t>—  </a:t>
            </a:r>
            <a:r>
              <a:rPr sz="1350" b="0" i="0">
                <a:solidFill>
                  <a:srgbClr val="14222E"/>
                </a:solidFill>
                <a:latin typeface="Arial"/>
              </a:rPr>
              <a:t>Boundary-layer quads by </a:t>
            </a:r>
            <a:r>
              <a:rPr sz="1350" b="1" i="0">
                <a:solidFill>
                  <a:srgbClr val="14222E"/>
                </a:solidFill>
                <a:latin typeface="Arial"/>
              </a:rPr>
              <a:t>node advancement</a:t>
            </a:r>
          </a:p>
          <a:p>
            <a:pPr>
              <a:spcBef>
                <a:spcPts val="0"/>
              </a:spcBef>
              <a:spcAft>
                <a:spcPts val="1100"/>
              </a:spcAft>
            </a:pPr>
            <a:r>
              <a:rPr sz="1350" b="1" i="0">
                <a:solidFill>
                  <a:srgbClr val="107A84"/>
                </a:solidFill>
                <a:latin typeface="Arial"/>
              </a:rPr>
              <a:t>—  </a:t>
            </a:r>
            <a:r>
              <a:rPr sz="1350" b="0" i="0">
                <a:solidFill>
                  <a:srgbClr val="14222E"/>
                </a:solidFill>
                <a:latin typeface="Arial"/>
              </a:rPr>
              <a:t>Far-field triangles via Gmsh </a:t>
            </a:r>
            <a:r>
              <a:rPr sz="1350" b="1" i="0">
                <a:solidFill>
                  <a:srgbClr val="14222E"/>
                </a:solidFill>
                <a:latin typeface="Arial"/>
              </a:rPr>
              <a:t>Frontal-Delaunay</a:t>
            </a:r>
          </a:p>
          <a:p>
            <a:pPr>
              <a:spcBef>
                <a:spcPts val="0"/>
              </a:spcBef>
              <a:spcAft>
                <a:spcPts val="1100"/>
              </a:spcAft>
            </a:pPr>
            <a:r>
              <a:rPr sz="1350" b="1" i="0">
                <a:solidFill>
                  <a:srgbClr val="107A84"/>
                </a:solidFill>
                <a:latin typeface="Arial"/>
              </a:rPr>
              <a:t>—  </a:t>
            </a:r>
            <a:r>
              <a:rPr sz="1350" b="0" i="0">
                <a:solidFill>
                  <a:srgbClr val="14222E"/>
                </a:solidFill>
                <a:latin typeface="Arial"/>
              </a:rPr>
              <a:t>~1,500 lines of C++</a:t>
            </a:r>
          </a:p>
          <a:p>
            <a:pPr>
              <a:spcBef>
                <a:spcPts val="0"/>
              </a:spcBef>
              <a:spcAft>
                <a:spcPts val="1100"/>
              </a:spcAft>
            </a:pPr>
            <a:r>
              <a:rPr sz="1350" b="1" i="0">
                <a:solidFill>
                  <a:srgbClr val="107A84"/>
                </a:solidFill>
                <a:latin typeface="Arial"/>
              </a:rPr>
              <a:t>—  </a:t>
            </a:r>
            <a:r>
              <a:rPr sz="1350" b="0" i="0">
                <a:solidFill>
                  <a:srgbClr val="14222E"/>
                </a:solidFill>
                <a:latin typeface="Arial"/>
              </a:rPr>
              <a:t>Exports VTK and STAR-CD (.vrt/.cel/.bnd)</a:t>
            </a:r>
          </a:p>
          <a:p>
            <a:pPr>
              <a:spcBef>
                <a:spcPts val="0"/>
              </a:spcBef>
              <a:spcAft>
                <a:spcPts val="0"/>
              </a:spcAft>
            </a:pPr>
            <a:r>
              <a:rPr sz="1350" b="1" i="0">
                <a:solidFill>
                  <a:srgbClr val="107A84"/>
                </a:solidFill>
                <a:latin typeface="Arial"/>
              </a:rPr>
              <a:t>—  </a:t>
            </a:r>
            <a:r>
              <a:rPr sz="1350" b="0" i="0">
                <a:solidFill>
                  <a:srgbClr val="14222E"/>
                </a:solidFill>
                <a:latin typeface="Arial"/>
              </a:rPr>
              <a:t>Inter-stage conversions handled automatically</a:t>
            </a:r>
          </a:p>
        </p:txBody>
      </p:sp>
      <p:sp>
        <p:nvSpPr>
          <p:cNvPr id="7" name="TextBox 6"/>
          <p:cNvSpPr txBox="1"/>
          <p:nvPr/>
        </p:nvSpPr>
        <p:spPr>
          <a:xfrm>
            <a:off x="658368" y="6382512"/>
            <a:ext cx="7612471" cy="219456"/>
          </a:xfrm>
          <a:prstGeom prst="rect">
            <a:avLst/>
          </a:prstGeom>
          <a:noFill/>
        </p:spPr>
        <p:txBody>
          <a:bodyPr wrap="square" lIns="0" rIns="0" tIns="0" bIns="0" anchor="t">
            <a:spAutoFit/>
          </a:bodyPr>
          <a:lstStyle/>
          <a:p>
            <a:pPr algn="l"/>
            <a:r>
              <a:rPr sz="850" b="0" i="0">
                <a:solidFill>
                  <a:srgbClr val="9AA8B0"/>
                </a:solidFill>
                <a:latin typeface="Arial"/>
              </a:rPr>
              <a:t>An Integrated CFD Workflow Platform for In-House Solvers</a:t>
            </a:r>
          </a:p>
        </p:txBody>
      </p:sp>
      <p:sp>
        <p:nvSpPr>
          <p:cNvPr id="8" name="TextBox 7"/>
          <p:cNvSpPr txBox="1"/>
          <p:nvPr/>
        </p:nvSpPr>
        <p:spPr>
          <a:xfrm>
            <a:off x="10801807" y="6382512"/>
            <a:ext cx="731520" cy="219456"/>
          </a:xfrm>
          <a:prstGeom prst="rect">
            <a:avLst/>
          </a:prstGeom>
          <a:noFill/>
        </p:spPr>
        <p:txBody>
          <a:bodyPr wrap="square" lIns="0" rIns="0" tIns="0" bIns="0" anchor="t">
            <a:spAutoFit/>
          </a:bodyPr>
          <a:lstStyle/>
          <a:p>
            <a:pPr algn="r"/>
            <a:r>
              <a:rPr sz="950" b="1" i="0">
                <a:solidFill>
                  <a:srgbClr val="9AA8B0"/>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56032"/>
          </a:xfrm>
          <a:prstGeom prst="rect">
            <a:avLst/>
          </a:prstGeom>
          <a:noFill/>
        </p:spPr>
        <p:txBody>
          <a:bodyPr wrap="square" lIns="0" rIns="0" tIns="0" bIns="0" anchor="t">
            <a:spAutoFit/>
          </a:bodyPr>
          <a:lstStyle/>
          <a:p>
            <a:pPr algn="l"/>
            <a:r>
              <a:rPr sz="1150" b="1" i="0">
                <a:solidFill>
                  <a:srgbClr val="107A84"/>
                </a:solidFill>
                <a:latin typeface="Arial"/>
              </a:rPr>
              <a:t>MODULE 3</a:t>
            </a:r>
          </a:p>
        </p:txBody>
      </p:sp>
      <p:sp>
        <p:nvSpPr>
          <p:cNvPr id="3" name="TextBox 2"/>
          <p:cNvSpPr txBox="1"/>
          <p:nvPr/>
        </p:nvSpPr>
        <p:spPr>
          <a:xfrm>
            <a:off x="658368" y="786384"/>
            <a:ext cx="10874959" cy="640080"/>
          </a:xfrm>
          <a:prstGeom prst="rect">
            <a:avLst/>
          </a:prstGeom>
          <a:noFill/>
        </p:spPr>
        <p:txBody>
          <a:bodyPr wrap="square" lIns="0" rIns="0" tIns="0" bIns="0" anchor="t">
            <a:spAutoFit/>
          </a:bodyPr>
          <a:lstStyle/>
          <a:p>
            <a:pPr algn="l"/>
            <a:r>
              <a:rPr sz="2700" b="1" i="0">
                <a:solidFill>
                  <a:srgbClr val="0B3552"/>
                </a:solidFill>
                <a:latin typeface="Arial"/>
              </a:rPr>
              <a:t>Core Solver — execution and monitoring</a:t>
            </a:r>
          </a:p>
        </p:txBody>
      </p:sp>
      <p:sp>
        <p:nvSpPr>
          <p:cNvPr id="4" name="TextBox 3"/>
          <p:cNvSpPr txBox="1"/>
          <p:nvPr/>
        </p:nvSpPr>
        <p:spPr>
          <a:xfrm>
            <a:off x="658368" y="1709928"/>
            <a:ext cx="10004962" cy="4114800"/>
          </a:xfrm>
          <a:prstGeom prst="rect">
            <a:avLst/>
          </a:prstGeom>
          <a:noFill/>
        </p:spPr>
        <p:txBody>
          <a:bodyPr wrap="square" lIns="0" rIns="0" tIns="0" bIns="0" anchor="t">
            <a:spAutoFit/>
          </a:bodyPr>
          <a:lstStyle/>
          <a:p>
            <a:pPr algn="l">
              <a:spcBef>
                <a:spcPts val="0"/>
              </a:spcBef>
              <a:spcAft>
                <a:spcPts val="1100"/>
              </a:spcAft>
            </a:pPr>
            <a:r>
              <a:rPr sz="1500" b="1" i="0">
                <a:solidFill>
                  <a:srgbClr val="107A84"/>
                </a:solidFill>
                <a:latin typeface="Arial"/>
              </a:rPr>
              <a:t>—  </a:t>
            </a:r>
            <a:r>
              <a:rPr sz="1500" b="0" i="0">
                <a:solidFill>
                  <a:srgbClr val="14222E"/>
                </a:solidFill>
                <a:latin typeface="Arial"/>
              </a:rPr>
              <a:t>Input format conversion</a:t>
            </a:r>
          </a:p>
          <a:p>
            <a:pPr>
              <a:spcBef>
                <a:spcPts val="0"/>
              </a:spcBef>
              <a:spcAft>
                <a:spcPts val="1100"/>
              </a:spcAft>
            </a:pPr>
            <a:r>
              <a:rPr sz="1500" b="1" i="0">
                <a:solidFill>
                  <a:srgbClr val="107A84"/>
                </a:solidFill>
                <a:latin typeface="Arial"/>
              </a:rPr>
              <a:t>—  </a:t>
            </a:r>
            <a:r>
              <a:rPr sz="1500" b="0" i="0">
                <a:solidFill>
                  <a:srgbClr val="14222E"/>
                </a:solidFill>
                <a:latin typeface="Arial"/>
              </a:rPr>
              <a:t>Optional MPI domain decomposition</a:t>
            </a:r>
          </a:p>
          <a:p>
            <a:pPr>
              <a:spcBef>
                <a:spcPts val="0"/>
              </a:spcBef>
              <a:spcAft>
                <a:spcPts val="1100"/>
              </a:spcAft>
            </a:pPr>
            <a:r>
              <a:rPr sz="1500" b="1" i="0">
                <a:solidFill>
                  <a:srgbClr val="107A84"/>
                </a:solidFill>
                <a:latin typeface="Arial"/>
              </a:rPr>
              <a:t>—  </a:t>
            </a:r>
            <a:r>
              <a:rPr sz="1500" b="0" i="0">
                <a:solidFill>
                  <a:srgbClr val="14222E"/>
                </a:solidFill>
                <a:latin typeface="Arial"/>
              </a:rPr>
              <a:t>Executes solvers distributed as shared libraries, via a built-in DLL call template</a:t>
            </a:r>
          </a:p>
          <a:p>
            <a:pPr>
              <a:spcBef>
                <a:spcPts val="0"/>
              </a:spcBef>
              <a:spcAft>
                <a:spcPts val="0"/>
              </a:spcAft>
            </a:pPr>
            <a:r>
              <a:rPr sz="1500" b="1" i="0">
                <a:solidFill>
                  <a:srgbClr val="107A84"/>
                </a:solidFill>
                <a:latin typeface="Arial"/>
              </a:rPr>
              <a:t>—  </a:t>
            </a:r>
            <a:r>
              <a:rPr sz="1500" b="0" i="0">
                <a:solidFill>
                  <a:srgbClr val="14222E"/>
                </a:solidFill>
                <a:latin typeface="Arial"/>
              </a:rPr>
              <a:t>A background worker parses stdout in real time for </a:t>
            </a:r>
            <a:r>
              <a:rPr sz="1500" b="1" i="0">
                <a:solidFill>
                  <a:srgbClr val="14222E"/>
                </a:solidFill>
                <a:latin typeface="Arial"/>
              </a:rPr>
              <a:t>live convergence monitoring</a:t>
            </a:r>
          </a:p>
        </p:txBody>
      </p:sp>
      <p:sp>
        <p:nvSpPr>
          <p:cNvPr id="5" name="TextBox 4"/>
          <p:cNvSpPr txBox="1"/>
          <p:nvPr/>
        </p:nvSpPr>
        <p:spPr>
          <a:xfrm>
            <a:off x="658368" y="6382512"/>
            <a:ext cx="7612471" cy="219456"/>
          </a:xfrm>
          <a:prstGeom prst="rect">
            <a:avLst/>
          </a:prstGeom>
          <a:noFill/>
        </p:spPr>
        <p:txBody>
          <a:bodyPr wrap="square" lIns="0" rIns="0" tIns="0" bIns="0" anchor="t">
            <a:spAutoFit/>
          </a:bodyPr>
          <a:lstStyle/>
          <a:p>
            <a:pPr algn="l"/>
            <a:r>
              <a:rPr sz="850" b="0" i="0">
                <a:solidFill>
                  <a:srgbClr val="9AA8B0"/>
                </a:solidFill>
                <a:latin typeface="Arial"/>
              </a:rPr>
              <a:t>An Integrated CFD Workflow Platform for In-House Solvers</a:t>
            </a:r>
          </a:p>
        </p:txBody>
      </p:sp>
      <p:sp>
        <p:nvSpPr>
          <p:cNvPr id="6" name="TextBox 5"/>
          <p:cNvSpPr txBox="1"/>
          <p:nvPr/>
        </p:nvSpPr>
        <p:spPr>
          <a:xfrm>
            <a:off x="10801807" y="6382512"/>
            <a:ext cx="731520" cy="219456"/>
          </a:xfrm>
          <a:prstGeom prst="rect">
            <a:avLst/>
          </a:prstGeom>
          <a:noFill/>
        </p:spPr>
        <p:txBody>
          <a:bodyPr wrap="square" lIns="0" rIns="0" tIns="0" bIns="0" anchor="t">
            <a:spAutoFit/>
          </a:bodyPr>
          <a:lstStyle/>
          <a:p>
            <a:pPr algn="r"/>
            <a:r>
              <a:rPr sz="950" b="1" i="0">
                <a:solidFill>
                  <a:srgbClr val="9AA8B0"/>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56032"/>
          </a:xfrm>
          <a:prstGeom prst="rect">
            <a:avLst/>
          </a:prstGeom>
          <a:noFill/>
        </p:spPr>
        <p:txBody>
          <a:bodyPr wrap="square" lIns="0" rIns="0" tIns="0" bIns="0" anchor="t">
            <a:spAutoFit/>
          </a:bodyPr>
          <a:lstStyle/>
          <a:p>
            <a:pPr algn="l"/>
            <a:r>
              <a:rPr sz="1150" b="1" i="0">
                <a:solidFill>
                  <a:srgbClr val="107A84"/>
                </a:solidFill>
                <a:latin typeface="Arial"/>
              </a:rPr>
              <a:t>MODULE 4</a:t>
            </a:r>
          </a:p>
        </p:txBody>
      </p:sp>
      <p:sp>
        <p:nvSpPr>
          <p:cNvPr id="3" name="TextBox 2"/>
          <p:cNvSpPr txBox="1"/>
          <p:nvPr/>
        </p:nvSpPr>
        <p:spPr>
          <a:xfrm>
            <a:off x="658368" y="786384"/>
            <a:ext cx="10874959" cy="640080"/>
          </a:xfrm>
          <a:prstGeom prst="rect">
            <a:avLst/>
          </a:prstGeom>
          <a:noFill/>
        </p:spPr>
        <p:txBody>
          <a:bodyPr wrap="square" lIns="0" rIns="0" tIns="0" bIns="0" anchor="t">
            <a:spAutoFit/>
          </a:bodyPr>
          <a:lstStyle/>
          <a:p>
            <a:pPr algn="l"/>
            <a:r>
              <a:rPr sz="2700" b="1" i="0">
                <a:solidFill>
                  <a:srgbClr val="0B3552"/>
                </a:solidFill>
                <a:latin typeface="Arial"/>
              </a:rPr>
              <a:t>Results Visualization</a:t>
            </a:r>
          </a:p>
        </p:txBody>
      </p:sp>
      <p:pic>
        <p:nvPicPr>
          <p:cNvPr id="4" name="Picture 3" descr="naca_contour.png"/>
          <p:cNvPicPr>
            <a:picLocks noChangeAspect="1"/>
          </p:cNvPicPr>
          <p:nvPr/>
        </p:nvPicPr>
        <p:blipFill>
          <a:blip r:embed="rId2"/>
          <a:stretch>
            <a:fillRect/>
          </a:stretch>
        </p:blipFill>
        <p:spPr>
          <a:xfrm>
            <a:off x="658368" y="1700784"/>
            <a:ext cx="5254388" cy="3520440"/>
          </a:xfrm>
          <a:prstGeom prst="rect">
            <a:avLst/>
          </a:prstGeom>
        </p:spPr>
      </p:pic>
      <p:sp>
        <p:nvSpPr>
          <p:cNvPr id="5" name="TextBox 4"/>
          <p:cNvSpPr txBox="1"/>
          <p:nvPr/>
        </p:nvSpPr>
        <p:spPr>
          <a:xfrm>
            <a:off x="658368" y="5276088"/>
            <a:ext cx="5943600" cy="457200"/>
          </a:xfrm>
          <a:prstGeom prst="rect">
            <a:avLst/>
          </a:prstGeom>
          <a:noFill/>
        </p:spPr>
        <p:txBody>
          <a:bodyPr wrap="square" lIns="0" rIns="0" tIns="0" bIns="0" anchor="t">
            <a:spAutoFit/>
          </a:bodyPr>
          <a:lstStyle/>
          <a:p>
            <a:pPr algn="l"/>
            <a:r>
              <a:rPr sz="1050" b="0" i="1">
                <a:solidFill>
                  <a:srgbClr val="5B6B78"/>
                </a:solidFill>
                <a:latin typeface="Arial"/>
              </a:rPr>
              <a:t>Cell-centred Mach number on a NACA 0012, rendered on the embedded canvas.</a:t>
            </a:r>
          </a:p>
        </p:txBody>
      </p:sp>
      <p:sp>
        <p:nvSpPr>
          <p:cNvPr id="6" name="TextBox 5"/>
          <p:cNvSpPr txBox="1"/>
          <p:nvPr/>
        </p:nvSpPr>
        <p:spPr>
          <a:xfrm>
            <a:off x="7059168" y="1892808"/>
            <a:ext cx="4474159" cy="4114800"/>
          </a:xfrm>
          <a:prstGeom prst="rect">
            <a:avLst/>
          </a:prstGeom>
          <a:noFill/>
        </p:spPr>
        <p:txBody>
          <a:bodyPr wrap="square" lIns="0" rIns="0" tIns="0" bIns="0" anchor="t">
            <a:spAutoFit/>
          </a:bodyPr>
          <a:lstStyle/>
          <a:p>
            <a:pPr algn="l">
              <a:spcBef>
                <a:spcPts val="0"/>
              </a:spcBef>
              <a:spcAft>
                <a:spcPts val="1100"/>
              </a:spcAft>
            </a:pPr>
            <a:r>
              <a:rPr sz="1350" b="1" i="0">
                <a:solidFill>
                  <a:srgbClr val="107A84"/>
                </a:solidFill>
                <a:latin typeface="Arial"/>
              </a:rPr>
              <a:t>—  </a:t>
            </a:r>
            <a:r>
              <a:rPr sz="1350" b="0" i="0">
                <a:solidFill>
                  <a:srgbClr val="14222E"/>
                </a:solidFill>
                <a:latin typeface="Arial"/>
              </a:rPr>
              <a:t>Parses Tecplot-format output</a:t>
            </a:r>
          </a:p>
          <a:p>
            <a:pPr>
              <a:spcBef>
                <a:spcPts val="0"/>
              </a:spcBef>
              <a:spcAft>
                <a:spcPts val="1100"/>
              </a:spcAft>
            </a:pPr>
            <a:r>
              <a:rPr sz="1350" b="1" i="0">
                <a:solidFill>
                  <a:srgbClr val="107A84"/>
                </a:solidFill>
                <a:latin typeface="Arial"/>
              </a:rPr>
              <a:t>—  </a:t>
            </a:r>
            <a:r>
              <a:rPr sz="1350" b="0" i="0">
                <a:solidFill>
                  <a:srgbClr val="14222E"/>
                </a:solidFill>
                <a:latin typeface="Arial"/>
              </a:rPr>
              <a:t>Cell-centred scalar fields on an embedded matplotlib canvas</a:t>
            </a:r>
          </a:p>
          <a:p>
            <a:pPr>
              <a:spcBef>
                <a:spcPts val="0"/>
              </a:spcBef>
              <a:spcAft>
                <a:spcPts val="1100"/>
              </a:spcAft>
            </a:pPr>
            <a:r>
              <a:rPr sz="1350" b="1" i="0">
                <a:solidFill>
                  <a:srgbClr val="107A84"/>
                </a:solidFill>
                <a:latin typeface="Arial"/>
              </a:rPr>
              <a:t>—  </a:t>
            </a:r>
            <a:r>
              <a:rPr sz="1350" b="0" i="0">
                <a:solidFill>
                  <a:srgbClr val="14222E"/>
                </a:solidFill>
                <a:latin typeface="Arial"/>
              </a:rPr>
              <a:t>Contours, streamlines and vector glyphs</a:t>
            </a:r>
          </a:p>
          <a:p>
            <a:pPr>
              <a:spcBef>
                <a:spcPts val="0"/>
              </a:spcBef>
              <a:spcAft>
                <a:spcPts val="0"/>
              </a:spcAft>
            </a:pPr>
            <a:r>
              <a:rPr sz="1350" b="1" i="0">
                <a:solidFill>
                  <a:srgbClr val="107A84"/>
                </a:solidFill>
                <a:latin typeface="Arial"/>
              </a:rPr>
              <a:t>—  </a:t>
            </a:r>
            <a:r>
              <a:rPr sz="1350" b="0" i="0">
                <a:solidFill>
                  <a:srgbClr val="14222E"/>
                </a:solidFill>
                <a:latin typeface="Arial"/>
              </a:rPr>
              <a:t>Interactive colormap and field-variable controls</a:t>
            </a:r>
          </a:p>
        </p:txBody>
      </p:sp>
      <p:sp>
        <p:nvSpPr>
          <p:cNvPr id="7" name="TextBox 6"/>
          <p:cNvSpPr txBox="1"/>
          <p:nvPr/>
        </p:nvSpPr>
        <p:spPr>
          <a:xfrm>
            <a:off x="658368" y="6382512"/>
            <a:ext cx="7612471" cy="219456"/>
          </a:xfrm>
          <a:prstGeom prst="rect">
            <a:avLst/>
          </a:prstGeom>
          <a:noFill/>
        </p:spPr>
        <p:txBody>
          <a:bodyPr wrap="square" lIns="0" rIns="0" tIns="0" bIns="0" anchor="t">
            <a:spAutoFit/>
          </a:bodyPr>
          <a:lstStyle/>
          <a:p>
            <a:pPr algn="l"/>
            <a:r>
              <a:rPr sz="850" b="0" i="0">
                <a:solidFill>
                  <a:srgbClr val="9AA8B0"/>
                </a:solidFill>
                <a:latin typeface="Arial"/>
              </a:rPr>
              <a:t>An Integrated CFD Workflow Platform for In-House Solvers</a:t>
            </a:r>
          </a:p>
        </p:txBody>
      </p:sp>
      <p:sp>
        <p:nvSpPr>
          <p:cNvPr id="8" name="TextBox 7"/>
          <p:cNvSpPr txBox="1"/>
          <p:nvPr/>
        </p:nvSpPr>
        <p:spPr>
          <a:xfrm>
            <a:off x="10801807" y="6382512"/>
            <a:ext cx="731520" cy="219456"/>
          </a:xfrm>
          <a:prstGeom prst="rect">
            <a:avLst/>
          </a:prstGeom>
          <a:noFill/>
        </p:spPr>
        <p:txBody>
          <a:bodyPr wrap="square" lIns="0" rIns="0" tIns="0" bIns="0" anchor="t">
            <a:spAutoFit/>
          </a:bodyPr>
          <a:lstStyle/>
          <a:p>
            <a:pPr algn="r"/>
            <a:r>
              <a:rPr sz="950" b="1" i="0">
                <a:solidFill>
                  <a:srgbClr val="9AA8B0"/>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56032"/>
          </a:xfrm>
          <a:prstGeom prst="rect">
            <a:avLst/>
          </a:prstGeom>
          <a:noFill/>
        </p:spPr>
        <p:txBody>
          <a:bodyPr wrap="square" lIns="0" rIns="0" tIns="0" bIns="0" anchor="t">
            <a:spAutoFit/>
          </a:bodyPr>
          <a:lstStyle/>
          <a:p>
            <a:pPr algn="l"/>
            <a:r>
              <a:rPr sz="1150" b="1" i="0">
                <a:solidFill>
                  <a:srgbClr val="107A84"/>
                </a:solidFill>
                <a:latin typeface="Arial"/>
              </a:rPr>
              <a:t>THE KEY IDEA</a:t>
            </a:r>
          </a:p>
        </p:txBody>
      </p:sp>
      <p:sp>
        <p:nvSpPr>
          <p:cNvPr id="3" name="TextBox 2"/>
          <p:cNvSpPr txBox="1"/>
          <p:nvPr/>
        </p:nvSpPr>
        <p:spPr>
          <a:xfrm>
            <a:off x="658368" y="786384"/>
            <a:ext cx="10874959" cy="640080"/>
          </a:xfrm>
          <a:prstGeom prst="rect">
            <a:avLst/>
          </a:prstGeom>
          <a:noFill/>
        </p:spPr>
        <p:txBody>
          <a:bodyPr wrap="square" lIns="0" rIns="0" tIns="0" bIns="0" anchor="t">
            <a:spAutoFit/>
          </a:bodyPr>
          <a:lstStyle/>
          <a:p>
            <a:pPr algn="l"/>
            <a:r>
              <a:rPr sz="2700" b="1" i="0">
                <a:solidFill>
                  <a:srgbClr val="0B3552"/>
                </a:solidFill>
                <a:latin typeface="Arial"/>
              </a:rPr>
              <a:t>The Solver Adapter</a:t>
            </a:r>
          </a:p>
        </p:txBody>
      </p:sp>
      <p:sp>
        <p:nvSpPr>
          <p:cNvPr id="4" name="TextBox 3"/>
          <p:cNvSpPr txBox="1"/>
          <p:nvPr/>
        </p:nvSpPr>
        <p:spPr>
          <a:xfrm>
            <a:off x="658368" y="1755648"/>
            <a:ext cx="10222461" cy="914400"/>
          </a:xfrm>
          <a:prstGeom prst="rect">
            <a:avLst/>
          </a:prstGeom>
          <a:noFill/>
        </p:spPr>
        <p:txBody>
          <a:bodyPr wrap="square" lIns="0" rIns="0" tIns="0" bIns="0" anchor="t">
            <a:spAutoFit/>
          </a:bodyPr>
          <a:lstStyle/>
          <a:p>
            <a:pPr algn="l"/>
            <a:r>
              <a:rPr sz="2000" b="0" i="0">
                <a:solidFill>
                  <a:srgbClr val="14222E"/>
                </a:solidFill>
                <a:latin typeface="Arial"/>
              </a:rPr>
              <a:t>Each adapter implements </a:t>
            </a:r>
            <a:r>
              <a:rPr sz="2000" b="1" i="0">
                <a:solidFill>
                  <a:srgbClr val="14222E"/>
                </a:solidFill>
                <a:latin typeface="Arial"/>
              </a:rPr>
              <a:t>three interface methods</a:t>
            </a:r>
            <a:r>
              <a:rPr sz="2000" b="0" i="0">
                <a:solidFill>
                  <a:srgbClr val="14222E"/>
                </a:solidFill>
                <a:latin typeface="Arial"/>
              </a:rPr>
              <a:t>. Everything upstream stays unchanged.</a:t>
            </a:r>
          </a:p>
        </p:txBody>
      </p:sp>
      <p:sp>
        <p:nvSpPr>
          <p:cNvPr id="5" name="Rounded Rectangle 4"/>
          <p:cNvSpPr/>
          <p:nvPr/>
        </p:nvSpPr>
        <p:spPr>
          <a:xfrm>
            <a:off x="658368" y="3172968"/>
            <a:ext cx="3417722" cy="1463040"/>
          </a:xfrm>
          <a:prstGeom prst="roundRect">
            <a:avLst>
              <a:gd name="adj" fmla="val 6000"/>
            </a:avLst>
          </a:prstGeom>
          <a:solidFill>
            <a:srgbClr val="F2F6F8"/>
          </a:solidFill>
          <a:ln w="12700">
            <a:solidFill>
              <a:srgbClr val="D5D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447288"/>
            <a:ext cx="2905658" cy="640080"/>
          </a:xfrm>
          <a:prstGeom prst="rect">
            <a:avLst/>
          </a:prstGeom>
          <a:noFill/>
        </p:spPr>
        <p:txBody>
          <a:bodyPr wrap="square" lIns="0" rIns="0" tIns="0" bIns="0" anchor="t">
            <a:spAutoFit/>
          </a:bodyPr>
          <a:lstStyle/>
          <a:p>
            <a:pPr algn="l"/>
            <a:r>
              <a:rPr sz="3400" b="1" i="0">
                <a:solidFill>
                  <a:srgbClr val="107A84"/>
                </a:solidFill>
                <a:latin typeface="Arial"/>
              </a:rPr>
              <a:t>3</a:t>
            </a:r>
          </a:p>
        </p:txBody>
      </p:sp>
      <p:sp>
        <p:nvSpPr>
          <p:cNvPr id="7" name="TextBox 6"/>
          <p:cNvSpPr txBox="1"/>
          <p:nvPr/>
        </p:nvSpPr>
        <p:spPr>
          <a:xfrm>
            <a:off x="914400" y="4142232"/>
            <a:ext cx="2905658" cy="457200"/>
          </a:xfrm>
          <a:prstGeom prst="rect">
            <a:avLst/>
          </a:prstGeom>
          <a:noFill/>
        </p:spPr>
        <p:txBody>
          <a:bodyPr wrap="square" lIns="0" rIns="0" tIns="0" bIns="0" anchor="t">
            <a:spAutoFit/>
          </a:bodyPr>
          <a:lstStyle/>
          <a:p>
            <a:pPr algn="l"/>
            <a:r>
              <a:rPr sz="1200" b="0" i="0">
                <a:solidFill>
                  <a:srgbClr val="5B6B78"/>
                </a:solidFill>
                <a:latin typeface="Arial"/>
              </a:rPr>
              <a:t>interface methods</a:t>
            </a:r>
          </a:p>
        </p:txBody>
      </p:sp>
      <p:sp>
        <p:nvSpPr>
          <p:cNvPr id="8" name="Rounded Rectangle 7"/>
          <p:cNvSpPr/>
          <p:nvPr/>
        </p:nvSpPr>
        <p:spPr>
          <a:xfrm>
            <a:off x="4386986" y="3172968"/>
            <a:ext cx="3417722" cy="1463040"/>
          </a:xfrm>
          <a:prstGeom prst="roundRect">
            <a:avLst>
              <a:gd name="adj" fmla="val 6000"/>
            </a:avLst>
          </a:prstGeom>
          <a:solidFill>
            <a:srgbClr val="F2F6F8"/>
          </a:solidFill>
          <a:ln w="12700">
            <a:solidFill>
              <a:srgbClr val="D5D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43018" y="3447288"/>
            <a:ext cx="2905658" cy="640080"/>
          </a:xfrm>
          <a:prstGeom prst="rect">
            <a:avLst/>
          </a:prstGeom>
          <a:noFill/>
        </p:spPr>
        <p:txBody>
          <a:bodyPr wrap="square" lIns="0" rIns="0" tIns="0" bIns="0" anchor="t">
            <a:spAutoFit/>
          </a:bodyPr>
          <a:lstStyle/>
          <a:p>
            <a:pPr algn="l"/>
            <a:r>
              <a:rPr sz="3400" b="1" i="0">
                <a:solidFill>
                  <a:srgbClr val="107A84"/>
                </a:solidFill>
                <a:latin typeface="Arial"/>
              </a:rPr>
              <a:t>&lt;150</a:t>
            </a:r>
          </a:p>
        </p:txBody>
      </p:sp>
      <p:sp>
        <p:nvSpPr>
          <p:cNvPr id="10" name="TextBox 9"/>
          <p:cNvSpPr txBox="1"/>
          <p:nvPr/>
        </p:nvSpPr>
        <p:spPr>
          <a:xfrm>
            <a:off x="4643018" y="4142232"/>
            <a:ext cx="2905658" cy="457200"/>
          </a:xfrm>
          <a:prstGeom prst="rect">
            <a:avLst/>
          </a:prstGeom>
          <a:noFill/>
        </p:spPr>
        <p:txBody>
          <a:bodyPr wrap="square" lIns="0" rIns="0" tIns="0" bIns="0" anchor="t">
            <a:spAutoFit/>
          </a:bodyPr>
          <a:lstStyle/>
          <a:p>
            <a:pPr algn="l"/>
            <a:r>
              <a:rPr sz="1200" b="0" i="0">
                <a:solidFill>
                  <a:srgbClr val="5B6B78"/>
                </a:solidFill>
                <a:latin typeface="Arial"/>
              </a:rPr>
              <a:t>lines of Python per new solver</a:t>
            </a:r>
          </a:p>
        </p:txBody>
      </p:sp>
      <p:sp>
        <p:nvSpPr>
          <p:cNvPr id="11" name="Rounded Rectangle 10"/>
          <p:cNvSpPr/>
          <p:nvPr/>
        </p:nvSpPr>
        <p:spPr>
          <a:xfrm>
            <a:off x="8115604" y="3172968"/>
            <a:ext cx="3417722" cy="1463040"/>
          </a:xfrm>
          <a:prstGeom prst="roundRect">
            <a:avLst>
              <a:gd name="adj" fmla="val 6000"/>
            </a:avLst>
          </a:prstGeom>
          <a:solidFill>
            <a:srgbClr val="F2F6F8"/>
          </a:solidFill>
          <a:ln w="12700">
            <a:solidFill>
              <a:srgbClr val="D5D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71636" y="3447288"/>
            <a:ext cx="2905658" cy="640080"/>
          </a:xfrm>
          <a:prstGeom prst="rect">
            <a:avLst/>
          </a:prstGeom>
          <a:noFill/>
        </p:spPr>
        <p:txBody>
          <a:bodyPr wrap="square" lIns="0" rIns="0" tIns="0" bIns="0" anchor="t">
            <a:spAutoFit/>
          </a:bodyPr>
          <a:lstStyle/>
          <a:p>
            <a:pPr algn="l"/>
            <a:r>
              <a:rPr sz="3400" b="1" i="0">
                <a:solidFill>
                  <a:srgbClr val="107A84"/>
                </a:solidFill>
                <a:latin typeface="Arial"/>
              </a:rPr>
              <a:t>0</a:t>
            </a:r>
          </a:p>
        </p:txBody>
      </p:sp>
      <p:sp>
        <p:nvSpPr>
          <p:cNvPr id="13" name="TextBox 12"/>
          <p:cNvSpPr txBox="1"/>
          <p:nvPr/>
        </p:nvSpPr>
        <p:spPr>
          <a:xfrm>
            <a:off x="8371636" y="4142232"/>
            <a:ext cx="2905658" cy="457200"/>
          </a:xfrm>
          <a:prstGeom prst="rect">
            <a:avLst/>
          </a:prstGeom>
          <a:noFill/>
        </p:spPr>
        <p:txBody>
          <a:bodyPr wrap="square" lIns="0" rIns="0" tIns="0" bIns="0" anchor="t">
            <a:spAutoFit/>
          </a:bodyPr>
          <a:lstStyle/>
          <a:p>
            <a:pPr algn="l"/>
            <a:r>
              <a:rPr sz="1200" b="0" i="0">
                <a:solidFill>
                  <a:srgbClr val="5B6B78"/>
                </a:solidFill>
                <a:latin typeface="Arial"/>
              </a:rPr>
              <a:t>changes to upstream modules</a:t>
            </a:r>
          </a:p>
        </p:txBody>
      </p:sp>
      <p:sp>
        <p:nvSpPr>
          <p:cNvPr id="14" name="TextBox 13"/>
          <p:cNvSpPr txBox="1"/>
          <p:nvPr/>
        </p:nvSpPr>
        <p:spPr>
          <a:xfrm>
            <a:off x="658368" y="6382512"/>
            <a:ext cx="7612471" cy="219456"/>
          </a:xfrm>
          <a:prstGeom prst="rect">
            <a:avLst/>
          </a:prstGeom>
          <a:noFill/>
        </p:spPr>
        <p:txBody>
          <a:bodyPr wrap="square" lIns="0" rIns="0" tIns="0" bIns="0" anchor="t">
            <a:spAutoFit/>
          </a:bodyPr>
          <a:lstStyle/>
          <a:p>
            <a:pPr algn="l"/>
            <a:r>
              <a:rPr sz="850" b="0" i="0">
                <a:solidFill>
                  <a:srgbClr val="9AA8B0"/>
                </a:solidFill>
                <a:latin typeface="Arial"/>
              </a:rPr>
              <a:t>An Integrated CFD Workflow Platform for In-House Solvers</a:t>
            </a:r>
          </a:p>
        </p:txBody>
      </p:sp>
      <p:sp>
        <p:nvSpPr>
          <p:cNvPr id="15" name="TextBox 14"/>
          <p:cNvSpPr txBox="1"/>
          <p:nvPr/>
        </p:nvSpPr>
        <p:spPr>
          <a:xfrm>
            <a:off x="10801807" y="6382512"/>
            <a:ext cx="731520" cy="219456"/>
          </a:xfrm>
          <a:prstGeom prst="rect">
            <a:avLst/>
          </a:prstGeom>
          <a:noFill/>
        </p:spPr>
        <p:txBody>
          <a:bodyPr wrap="square" lIns="0" rIns="0" tIns="0" bIns="0" anchor="t">
            <a:spAutoFit/>
          </a:bodyPr>
          <a:lstStyle/>
          <a:p>
            <a:pPr algn="r"/>
            <a:r>
              <a:rPr sz="950" b="1" i="0">
                <a:solidFill>
                  <a:srgbClr val="9AA8B0"/>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56032"/>
          </a:xfrm>
          <a:prstGeom prst="rect">
            <a:avLst/>
          </a:prstGeom>
          <a:noFill/>
        </p:spPr>
        <p:txBody>
          <a:bodyPr wrap="square" lIns="0" rIns="0" tIns="0" bIns="0" anchor="t">
            <a:spAutoFit/>
          </a:bodyPr>
          <a:lstStyle/>
          <a:p>
            <a:pPr algn="l"/>
            <a:r>
              <a:rPr sz="1150" b="1" i="0">
                <a:solidFill>
                  <a:srgbClr val="107A84"/>
                </a:solidFill>
                <a:latin typeface="Arial"/>
              </a:rPr>
              <a:t>THE CONTRACT</a:t>
            </a:r>
          </a:p>
        </p:txBody>
      </p:sp>
      <p:sp>
        <p:nvSpPr>
          <p:cNvPr id="3" name="TextBox 2"/>
          <p:cNvSpPr txBox="1"/>
          <p:nvPr/>
        </p:nvSpPr>
        <p:spPr>
          <a:xfrm>
            <a:off x="658368" y="786384"/>
            <a:ext cx="10874959" cy="640080"/>
          </a:xfrm>
          <a:prstGeom prst="rect">
            <a:avLst/>
          </a:prstGeom>
          <a:noFill/>
        </p:spPr>
        <p:txBody>
          <a:bodyPr wrap="square" lIns="0" rIns="0" tIns="0" bIns="0" anchor="t">
            <a:spAutoFit/>
          </a:bodyPr>
          <a:lstStyle/>
          <a:p>
            <a:pPr algn="l"/>
            <a:r>
              <a:rPr sz="2700" b="1" i="0">
                <a:solidFill>
                  <a:srgbClr val="0B3552"/>
                </a:solidFill>
                <a:latin typeface="Arial"/>
              </a:rPr>
              <a:t>Three methods, one interface</a:t>
            </a:r>
          </a:p>
        </p:txBody>
      </p:sp>
      <p:graphicFrame>
        <p:nvGraphicFramePr>
          <p:cNvPr id="4" name="Table 3"/>
          <p:cNvGraphicFramePr>
            <a:graphicFrameLocks noGrp="1"/>
          </p:cNvGraphicFramePr>
          <p:nvPr/>
        </p:nvGraphicFramePr>
        <p:xfrm>
          <a:off x="658368" y="1682496"/>
          <a:ext cx="10874957" cy="2743200"/>
        </p:xfrm>
        <a:graphic>
          <a:graphicData uri="http://schemas.openxmlformats.org/drawingml/2006/table">
            <a:tbl>
              <a:tblPr firstRow="1" bandRow="1">
                <a:tableStyleId>{5C22544A-7EE6-4342-B048-85BDC9FD1C3A}</a:tableStyleId>
              </a:tblPr>
              <a:tblGrid>
                <a:gridCol w="2555615"/>
                <a:gridCol w="1903117"/>
                <a:gridCol w="2011867"/>
                <a:gridCol w="4404358"/>
              </a:tblGrid>
              <a:tr h="384048">
                <a:tc>
                  <a:txBody>
                    <a:bodyPr/>
                    <a:lstStyle/>
                    <a:p>
                      <a:r>
                        <a:rPr sz="1200" b="1" i="0">
                          <a:solidFill>
                            <a:srgbClr val="FFFFFF"/>
                          </a:solidFill>
                          <a:latin typeface="Arial"/>
                        </a:rPr>
                        <a:t>Method</a:t>
                      </a:r>
                    </a:p>
                  </a:txBody>
                  <a:tcPr marL="82296" marR="82296" anchor="ctr">
                    <a:solidFill>
                      <a:srgbClr val="0B3552"/>
                    </a:solidFill>
                  </a:tcPr>
                </a:tc>
                <a:tc>
                  <a:txBody>
                    <a:bodyPr/>
                    <a:lstStyle/>
                    <a:p>
                      <a:r>
                        <a:rPr sz="1200" b="1" i="0">
                          <a:solidFill>
                            <a:srgbClr val="FFFFFF"/>
                          </a:solidFill>
                          <a:latin typeface="Arial"/>
                        </a:rPr>
                        <a:t>Input</a:t>
                      </a:r>
                    </a:p>
                  </a:txBody>
                  <a:tcPr marL="82296" marR="82296" anchor="ctr">
                    <a:solidFill>
                      <a:srgbClr val="0B3552"/>
                    </a:solidFill>
                  </a:tcPr>
                </a:tc>
                <a:tc>
                  <a:txBody>
                    <a:bodyPr/>
                    <a:lstStyle/>
                    <a:p>
                      <a:r>
                        <a:rPr sz="1200" b="1" i="0">
                          <a:solidFill>
                            <a:srgbClr val="FFFFFF"/>
                          </a:solidFill>
                          <a:latin typeface="Arial"/>
                        </a:rPr>
                        <a:t>Output</a:t>
                      </a:r>
                    </a:p>
                  </a:txBody>
                  <a:tcPr marL="82296" marR="82296" anchor="ctr">
                    <a:solidFill>
                      <a:srgbClr val="0B3552"/>
                    </a:solidFill>
                  </a:tcPr>
                </a:tc>
                <a:tc>
                  <a:txBody>
                    <a:bodyPr/>
                    <a:lstStyle/>
                    <a:p>
                      <a:r>
                        <a:rPr sz="1200" b="1" i="0">
                          <a:solidFill>
                            <a:srgbClr val="FFFFFF"/>
                          </a:solidFill>
                          <a:latin typeface="Arial"/>
                        </a:rPr>
                        <a:t>Purpose</a:t>
                      </a:r>
                    </a:p>
                  </a:txBody>
                  <a:tcPr marL="82296" marR="82296" anchor="ctr">
                    <a:solidFill>
                      <a:srgbClr val="0B3552"/>
                    </a:solidFill>
                  </a:tcPr>
                </a:tc>
              </a:tr>
              <a:tr h="786384">
                <a:tc>
                  <a:txBody>
                    <a:bodyPr/>
                    <a:lstStyle/>
                    <a:p>
                      <a:r>
                        <a:rPr sz="1050" b="1" i="0">
                          <a:solidFill>
                            <a:srgbClr val="107A84"/>
                          </a:solidFill>
                          <a:latin typeface="Consolas"/>
                        </a:rPr>
                        <a:t>convert_mesh(src, dst)</a:t>
                      </a:r>
                    </a:p>
                  </a:txBody>
                  <a:tcPr marL="82296" marR="82296" marT="45720" marB="45720" anchor="ctr">
                    <a:solidFill>
                      <a:srgbClr val="FFFFFF"/>
                    </a:solidFill>
                  </a:tcPr>
                </a:tc>
                <a:tc>
                  <a:txBody>
                    <a:bodyPr/>
                    <a:lstStyle/>
                    <a:p>
                      <a:r>
                        <a:rPr sz="1150" b="0" i="0">
                          <a:solidFill>
                            <a:srgbClr val="14222E"/>
                          </a:solidFill>
                          <a:latin typeface="Arial"/>
                        </a:rPr>
                        <a:t>VTK mesh path</a:t>
                      </a:r>
                    </a:p>
                  </a:txBody>
                  <a:tcPr marL="82296" marR="82296" marT="45720" marB="45720" anchor="ctr">
                    <a:solidFill>
                      <a:srgbClr val="FFFFFF"/>
                    </a:solidFill>
                  </a:tcPr>
                </a:tc>
                <a:tc>
                  <a:txBody>
                    <a:bodyPr/>
                    <a:lstStyle/>
                    <a:p>
                      <a:r>
                        <a:rPr sz="1150" b="0" i="0">
                          <a:solidFill>
                            <a:srgbClr val="14222E"/>
                          </a:solidFill>
                          <a:latin typeface="Arial"/>
                        </a:rPr>
                        <a:t>Solver-format mesh file(s)</a:t>
                      </a:r>
                    </a:p>
                  </a:txBody>
                  <a:tcPr marL="82296" marR="82296" marT="45720" marB="45720" anchor="ctr">
                    <a:solidFill>
                      <a:srgbClr val="FFFFFF"/>
                    </a:solidFill>
                  </a:tcPr>
                </a:tc>
                <a:tc>
                  <a:txBody>
                    <a:bodyPr/>
                    <a:lstStyle/>
                    <a:p>
                      <a:r>
                        <a:rPr sz="1150" b="0" i="0">
                          <a:solidFill>
                            <a:srgbClr val="14222E"/>
                          </a:solidFill>
                          <a:latin typeface="Arial"/>
                        </a:rPr>
                        <a:t>Converts the platform mesh to the solver's input format — e.g. STAR-CD .vrt/.cel/.bnd for UNICONES.</a:t>
                      </a:r>
                    </a:p>
                  </a:txBody>
                  <a:tcPr marL="82296" marR="82296" marT="45720" marB="45720" anchor="ctr">
                    <a:solidFill>
                      <a:srgbClr val="FFFFFF"/>
                    </a:solidFill>
                  </a:tcPr>
                </a:tc>
              </a:tr>
              <a:tr h="786384">
                <a:tc>
                  <a:txBody>
                    <a:bodyPr/>
                    <a:lstStyle/>
                    <a:p>
                      <a:r>
                        <a:rPr sz="1050" b="1" i="0">
                          <a:solidFill>
                            <a:srgbClr val="107A84"/>
                          </a:solidFill>
                          <a:latin typeface="Consolas"/>
                        </a:rPr>
                        <a:t>parse_stdout(line) → dict</a:t>
                      </a:r>
                    </a:p>
                  </a:txBody>
                  <a:tcPr marL="82296" marR="82296" marT="45720" marB="45720" anchor="ctr">
                    <a:solidFill>
                      <a:srgbClr val="F2F6F8"/>
                    </a:solidFill>
                  </a:tcPr>
                </a:tc>
                <a:tc>
                  <a:txBody>
                    <a:bodyPr/>
                    <a:lstStyle/>
                    <a:p>
                      <a:r>
                        <a:rPr sz="1150" b="0" i="0">
                          <a:solidFill>
                            <a:srgbClr val="14222E"/>
                          </a:solidFill>
                          <a:latin typeface="Arial"/>
                        </a:rPr>
                        <a:t>One line of solver stdout</a:t>
                      </a:r>
                    </a:p>
                  </a:txBody>
                  <a:tcPr marL="82296" marR="82296" marT="45720" marB="45720" anchor="ctr">
                    <a:solidFill>
                      <a:srgbClr val="F2F6F8"/>
                    </a:solidFill>
                  </a:tcPr>
                </a:tc>
                <a:tc>
                  <a:txBody>
                    <a:bodyPr/>
                    <a:lstStyle/>
                    <a:p>
                      <a:r>
                        <a:rPr sz="1150" b="0" i="0">
                          <a:solidFill>
                            <a:srgbClr val="14222E"/>
                          </a:solidFill>
                          <a:latin typeface="Arial"/>
                        </a:rPr>
                        <a:t>Convergence quantities, or None</a:t>
                      </a:r>
                    </a:p>
                  </a:txBody>
                  <a:tcPr marL="82296" marR="82296" marT="45720" marB="45720" anchor="ctr">
                    <a:solidFill>
                      <a:srgbClr val="F2F6F8"/>
                    </a:solidFill>
                  </a:tcPr>
                </a:tc>
                <a:tc>
                  <a:txBody>
                    <a:bodyPr/>
                    <a:lstStyle/>
                    <a:p>
                      <a:r>
                        <a:rPr sz="1150" b="0" i="0">
                          <a:solidFill>
                            <a:srgbClr val="14222E"/>
                          </a:solidFill>
                          <a:latin typeface="Arial"/>
                        </a:rPr>
                        <a:t>Extracts iteration, CFL and residual for live monitoring; returns None for non-data lines.</a:t>
                      </a:r>
                    </a:p>
                  </a:txBody>
                  <a:tcPr marL="82296" marR="82296" marT="45720" marB="45720" anchor="ctr">
                    <a:solidFill>
                      <a:srgbClr val="F2F6F8"/>
                    </a:solidFill>
                  </a:tcPr>
                </a:tc>
              </a:tr>
              <a:tr h="786384">
                <a:tc>
                  <a:txBody>
                    <a:bodyPr/>
                    <a:lstStyle/>
                    <a:p>
                      <a:r>
                        <a:rPr sz="1050" b="1" i="0">
                          <a:solidFill>
                            <a:srgbClr val="107A84"/>
                          </a:solidFill>
                          <a:latin typeface="Consolas"/>
                        </a:rPr>
                        <a:t>read_results(path) → dataset</a:t>
                      </a:r>
                    </a:p>
                  </a:txBody>
                  <a:tcPr marL="82296" marR="82296" marT="45720" marB="45720" anchor="ctr">
                    <a:solidFill>
                      <a:srgbClr val="FFFFFF"/>
                    </a:solidFill>
                  </a:tcPr>
                </a:tc>
                <a:tc>
                  <a:txBody>
                    <a:bodyPr/>
                    <a:lstStyle/>
                    <a:p>
                      <a:r>
                        <a:rPr sz="1150" b="0" i="0">
                          <a:solidFill>
                            <a:srgbClr val="14222E"/>
                          </a:solidFill>
                          <a:latin typeface="Arial"/>
                        </a:rPr>
                        <a:t>Solver result file path</a:t>
                      </a:r>
                    </a:p>
                  </a:txBody>
                  <a:tcPr marL="82296" marR="82296" marT="45720" marB="45720" anchor="ctr">
                    <a:solidFill>
                      <a:srgbClr val="FFFFFF"/>
                    </a:solidFill>
                  </a:tcPr>
                </a:tc>
                <a:tc>
                  <a:txBody>
                    <a:bodyPr/>
                    <a:lstStyle/>
                    <a:p>
                      <a:r>
                        <a:rPr sz="1150" b="0" i="0">
                          <a:solidFill>
                            <a:srgbClr val="14222E"/>
                          </a:solidFill>
                          <a:latin typeface="Arial"/>
                        </a:rPr>
                        <a:t>Structured field dataset</a:t>
                      </a:r>
                    </a:p>
                  </a:txBody>
                  <a:tcPr marL="82296" marR="82296" marT="45720" marB="45720" anchor="ctr">
                    <a:solidFill>
                      <a:srgbClr val="FFFFFF"/>
                    </a:solidFill>
                  </a:tcPr>
                </a:tc>
                <a:tc>
                  <a:txBody>
                    <a:bodyPr/>
                    <a:lstStyle/>
                    <a:p>
                      <a:r>
                        <a:rPr sz="1150" b="0" i="0">
                          <a:solidFill>
                            <a:srgbClr val="14222E"/>
                          </a:solidFill>
                          <a:latin typeface="Arial"/>
                        </a:rPr>
                        <a:t>Parses solver-specific output for the visualization module, fully decoupling it from the output format.</a:t>
                      </a:r>
                    </a:p>
                  </a:txBody>
                  <a:tcPr marL="82296" marR="82296" marT="45720" marB="45720" anchor="ctr">
                    <a:solidFill>
                      <a:srgbClr val="FFFFFF"/>
                    </a:solidFill>
                  </a:tcPr>
                </a:tc>
              </a:tr>
            </a:tbl>
          </a:graphicData>
        </a:graphic>
      </p:graphicFrame>
      <p:sp>
        <p:nvSpPr>
          <p:cNvPr id="5" name="TextBox 4"/>
          <p:cNvSpPr txBox="1"/>
          <p:nvPr/>
        </p:nvSpPr>
        <p:spPr>
          <a:xfrm>
            <a:off x="658368" y="3639312"/>
            <a:ext cx="10874959" cy="365760"/>
          </a:xfrm>
          <a:prstGeom prst="rect">
            <a:avLst/>
          </a:prstGeom>
          <a:noFill/>
        </p:spPr>
        <p:txBody>
          <a:bodyPr wrap="square" lIns="0" rIns="0" tIns="0" bIns="0" anchor="t">
            <a:spAutoFit/>
          </a:bodyPr>
          <a:lstStyle/>
          <a:p>
            <a:pPr algn="l"/>
            <a:r>
              <a:rPr sz="1050" b="0" i="1">
                <a:solidFill>
                  <a:srgbClr val="5B6B78"/>
                </a:solidFill>
                <a:latin typeface="Arial"/>
              </a:rPr>
              <a:t>Table 1  Solver Adapter interface definition.</a:t>
            </a:r>
          </a:p>
        </p:txBody>
      </p:sp>
      <p:sp>
        <p:nvSpPr>
          <p:cNvPr id="6" name="TextBox 5"/>
          <p:cNvSpPr txBox="1"/>
          <p:nvPr/>
        </p:nvSpPr>
        <p:spPr>
          <a:xfrm>
            <a:off x="658368" y="6382512"/>
            <a:ext cx="7612471" cy="219456"/>
          </a:xfrm>
          <a:prstGeom prst="rect">
            <a:avLst/>
          </a:prstGeom>
          <a:noFill/>
        </p:spPr>
        <p:txBody>
          <a:bodyPr wrap="square" lIns="0" rIns="0" tIns="0" bIns="0" anchor="t">
            <a:spAutoFit/>
          </a:bodyPr>
          <a:lstStyle/>
          <a:p>
            <a:pPr algn="l"/>
            <a:r>
              <a:rPr sz="850" b="0" i="0">
                <a:solidFill>
                  <a:srgbClr val="9AA8B0"/>
                </a:solidFill>
                <a:latin typeface="Arial"/>
              </a:rPr>
              <a:t>An Integrated CFD Workflow Platform for In-House Solvers</a:t>
            </a:r>
          </a:p>
        </p:txBody>
      </p:sp>
      <p:sp>
        <p:nvSpPr>
          <p:cNvPr id="7" name="TextBox 6"/>
          <p:cNvSpPr txBox="1"/>
          <p:nvPr/>
        </p:nvSpPr>
        <p:spPr>
          <a:xfrm>
            <a:off x="10801807" y="6382512"/>
            <a:ext cx="731520" cy="219456"/>
          </a:xfrm>
          <a:prstGeom prst="rect">
            <a:avLst/>
          </a:prstGeom>
          <a:noFill/>
        </p:spPr>
        <p:txBody>
          <a:bodyPr wrap="square" lIns="0" rIns="0" tIns="0" bIns="0" anchor="t">
            <a:spAutoFit/>
          </a:bodyPr>
          <a:lstStyle/>
          <a:p>
            <a:pPr algn="r"/>
            <a:r>
              <a:rPr sz="950" b="1" i="0">
                <a:solidFill>
                  <a:srgbClr val="9AA8B0"/>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56032"/>
          </a:xfrm>
          <a:prstGeom prst="rect">
            <a:avLst/>
          </a:prstGeom>
          <a:noFill/>
        </p:spPr>
        <p:txBody>
          <a:bodyPr wrap="square" lIns="0" rIns="0" tIns="0" bIns="0" anchor="t">
            <a:spAutoFit/>
          </a:bodyPr>
          <a:lstStyle/>
          <a:p>
            <a:pPr algn="l"/>
            <a:r>
              <a:rPr sz="1150" b="1" i="0">
                <a:solidFill>
                  <a:srgbClr val="107A84"/>
                </a:solidFill>
                <a:latin typeface="Arial"/>
              </a:rPr>
              <a:t>METHODOLOGY</a:t>
            </a:r>
          </a:p>
        </p:txBody>
      </p:sp>
      <p:sp>
        <p:nvSpPr>
          <p:cNvPr id="3" name="TextBox 2"/>
          <p:cNvSpPr txBox="1"/>
          <p:nvPr/>
        </p:nvSpPr>
        <p:spPr>
          <a:xfrm>
            <a:off x="658368" y="786384"/>
            <a:ext cx="10874959" cy="640080"/>
          </a:xfrm>
          <a:prstGeom prst="rect">
            <a:avLst/>
          </a:prstGeom>
          <a:noFill/>
        </p:spPr>
        <p:txBody>
          <a:bodyPr wrap="square" lIns="0" rIns="0" tIns="0" bIns="0" anchor="t">
            <a:spAutoFit/>
          </a:bodyPr>
          <a:lstStyle/>
          <a:p>
            <a:pPr algn="l"/>
            <a:r>
              <a:rPr sz="2700" b="1" i="0">
                <a:solidFill>
                  <a:srgbClr val="0B3552"/>
                </a:solidFill>
                <a:latin typeface="Arial"/>
              </a:rPr>
              <a:t>How it was built</a:t>
            </a:r>
          </a:p>
        </p:txBody>
      </p:sp>
      <p:sp>
        <p:nvSpPr>
          <p:cNvPr id="4" name="TextBox 3"/>
          <p:cNvSpPr txBox="1"/>
          <p:nvPr/>
        </p:nvSpPr>
        <p:spPr>
          <a:xfrm>
            <a:off x="658368" y="1709928"/>
            <a:ext cx="10004962" cy="4114800"/>
          </a:xfrm>
          <a:prstGeom prst="rect">
            <a:avLst/>
          </a:prstGeom>
          <a:noFill/>
        </p:spPr>
        <p:txBody>
          <a:bodyPr wrap="square" lIns="0" rIns="0" tIns="0" bIns="0" anchor="t">
            <a:spAutoFit/>
          </a:bodyPr>
          <a:lstStyle/>
          <a:p>
            <a:pPr algn="l">
              <a:spcBef>
                <a:spcPts val="0"/>
              </a:spcBef>
              <a:spcAft>
                <a:spcPts val="1100"/>
              </a:spcAft>
            </a:pPr>
            <a:r>
              <a:rPr sz="1500" b="1" i="0">
                <a:solidFill>
                  <a:srgbClr val="107A84"/>
                </a:solidFill>
                <a:latin typeface="Arial"/>
              </a:rPr>
              <a:t>—  </a:t>
            </a:r>
            <a:r>
              <a:rPr sz="1500" b="0" i="0">
                <a:solidFill>
                  <a:srgbClr val="14222E"/>
                </a:solidFill>
                <a:latin typeface="Arial"/>
              </a:rPr>
              <a:t>LLM coding assistants in </a:t>
            </a:r>
            <a:r>
              <a:rPr sz="1500" b="1" i="0">
                <a:solidFill>
                  <a:srgbClr val="14222E"/>
                </a:solidFill>
                <a:latin typeface="Arial"/>
              </a:rPr>
              <a:t>agentic mode</a:t>
            </a:r>
            <a:r>
              <a:rPr sz="1500" b="0" i="0">
                <a:solidFill>
                  <a:srgbClr val="14222E"/>
                </a:solidFill>
                <a:latin typeface="Arial"/>
              </a:rPr>
              <a:t> — reading, writing and executing project files, not merely generating text</a:t>
            </a:r>
          </a:p>
          <a:p>
            <a:pPr>
              <a:spcBef>
                <a:spcPts val="0"/>
              </a:spcBef>
              <a:spcAft>
                <a:spcPts val="1100"/>
              </a:spcAft>
            </a:pPr>
            <a:r>
              <a:rPr sz="1500" b="1" i="0">
                <a:solidFill>
                  <a:srgbClr val="107A84"/>
                </a:solidFill>
                <a:latin typeface="Arial"/>
              </a:rPr>
              <a:t>—  </a:t>
            </a:r>
            <a:r>
              <a:rPr sz="1500" b="0" i="0">
                <a:solidFill>
                  <a:srgbClr val="14222E"/>
                </a:solidFill>
                <a:latin typeface="Arial"/>
              </a:rPr>
              <a:t>Experts defined the pipeline architecture, the numerical algorithms, the format-compatibility chain, and physical validation</a:t>
            </a:r>
          </a:p>
          <a:p>
            <a:pPr>
              <a:spcBef>
                <a:spcPts val="0"/>
              </a:spcBef>
              <a:spcAft>
                <a:spcPts val="1100"/>
              </a:spcAft>
            </a:pPr>
            <a:r>
              <a:rPr sz="1500" b="1" i="0">
                <a:solidFill>
                  <a:srgbClr val="107A84"/>
                </a:solidFill>
                <a:latin typeface="Arial"/>
              </a:rPr>
              <a:t>—  </a:t>
            </a:r>
            <a:r>
              <a:rPr sz="1500" b="0" i="0">
                <a:solidFill>
                  <a:srgbClr val="14222E"/>
                </a:solidFill>
                <a:latin typeface="Arial"/>
              </a:rPr>
              <a:t>AI generated GUI boilerplate, file parsers, and C++ routines from algorithmic descriptions</a:t>
            </a:r>
          </a:p>
          <a:p>
            <a:pPr>
              <a:spcBef>
                <a:spcPts val="0"/>
              </a:spcBef>
              <a:spcAft>
                <a:spcPts val="0"/>
              </a:spcAft>
            </a:pPr>
            <a:r>
              <a:rPr sz="1500" b="1" i="0">
                <a:solidFill>
                  <a:srgbClr val="107A84"/>
                </a:solidFill>
                <a:latin typeface="Arial"/>
              </a:rPr>
              <a:t>—  </a:t>
            </a:r>
            <a:r>
              <a:rPr sz="1500" b="0" i="0">
                <a:solidFill>
                  <a:srgbClr val="14222E"/>
                </a:solidFill>
                <a:latin typeface="Arial"/>
              </a:rPr>
              <a:t>Each feature converged in </a:t>
            </a:r>
            <a:r>
              <a:rPr sz="1500" b="1" i="0">
                <a:solidFill>
                  <a:srgbClr val="14222E"/>
                </a:solidFill>
                <a:latin typeface="Arial"/>
              </a:rPr>
              <a:t>2–5 rounds</a:t>
            </a:r>
            <a:r>
              <a:rPr sz="1500" b="0" i="0">
                <a:solidFill>
                  <a:srgbClr val="14222E"/>
                </a:solidFill>
                <a:latin typeface="Arial"/>
              </a:rPr>
              <a:t> of describe → generate → execute → validate → correct</a:t>
            </a:r>
          </a:p>
        </p:txBody>
      </p:sp>
      <p:sp>
        <p:nvSpPr>
          <p:cNvPr id="5" name="TextBox 4"/>
          <p:cNvSpPr txBox="1"/>
          <p:nvPr/>
        </p:nvSpPr>
        <p:spPr>
          <a:xfrm>
            <a:off x="658368" y="6382512"/>
            <a:ext cx="7612471" cy="219456"/>
          </a:xfrm>
          <a:prstGeom prst="rect">
            <a:avLst/>
          </a:prstGeom>
          <a:noFill/>
        </p:spPr>
        <p:txBody>
          <a:bodyPr wrap="square" lIns="0" rIns="0" tIns="0" bIns="0" anchor="t">
            <a:spAutoFit/>
          </a:bodyPr>
          <a:lstStyle/>
          <a:p>
            <a:pPr algn="l"/>
            <a:r>
              <a:rPr sz="850" b="0" i="0">
                <a:solidFill>
                  <a:srgbClr val="9AA8B0"/>
                </a:solidFill>
                <a:latin typeface="Arial"/>
              </a:rPr>
              <a:t>An Integrated CFD Workflow Platform for In-House Solvers</a:t>
            </a:r>
          </a:p>
        </p:txBody>
      </p:sp>
      <p:sp>
        <p:nvSpPr>
          <p:cNvPr id="6" name="TextBox 5"/>
          <p:cNvSpPr txBox="1"/>
          <p:nvPr/>
        </p:nvSpPr>
        <p:spPr>
          <a:xfrm>
            <a:off x="10801807" y="6382512"/>
            <a:ext cx="731520" cy="219456"/>
          </a:xfrm>
          <a:prstGeom prst="rect">
            <a:avLst/>
          </a:prstGeom>
          <a:noFill/>
        </p:spPr>
        <p:txBody>
          <a:bodyPr wrap="square" lIns="0" rIns="0" tIns="0" bIns="0" anchor="t">
            <a:spAutoFit/>
          </a:bodyPr>
          <a:lstStyle/>
          <a:p>
            <a:pPr algn="r"/>
            <a:r>
              <a:rPr sz="950" b="1" i="0">
                <a:solidFill>
                  <a:srgbClr val="9AA8B0"/>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56032"/>
          </a:xfrm>
          <a:prstGeom prst="rect">
            <a:avLst/>
          </a:prstGeom>
          <a:noFill/>
        </p:spPr>
        <p:txBody>
          <a:bodyPr wrap="square" lIns="0" rIns="0" tIns="0" bIns="0" anchor="t">
            <a:spAutoFit/>
          </a:bodyPr>
          <a:lstStyle/>
          <a:p>
            <a:pPr algn="l"/>
            <a:r>
              <a:rPr sz="1150" b="1" i="0">
                <a:solidFill>
                  <a:srgbClr val="107A84"/>
                </a:solidFill>
                <a:latin typeface="Arial"/>
              </a:rPr>
              <a:t>METHODOLOGY — A CASE IN POINT</a:t>
            </a:r>
          </a:p>
        </p:txBody>
      </p:sp>
      <p:sp>
        <p:nvSpPr>
          <p:cNvPr id="3" name="TextBox 2"/>
          <p:cNvSpPr txBox="1"/>
          <p:nvPr/>
        </p:nvSpPr>
        <p:spPr>
          <a:xfrm>
            <a:off x="658368" y="786384"/>
            <a:ext cx="10874959" cy="640080"/>
          </a:xfrm>
          <a:prstGeom prst="rect">
            <a:avLst/>
          </a:prstGeom>
          <a:noFill/>
        </p:spPr>
        <p:txBody>
          <a:bodyPr wrap="square" lIns="0" rIns="0" tIns="0" bIns="0" anchor="t">
            <a:spAutoFit/>
          </a:bodyPr>
          <a:lstStyle/>
          <a:p>
            <a:pPr algn="l"/>
            <a:r>
              <a:rPr sz="2700" b="1" i="0">
                <a:solidFill>
                  <a:srgbClr val="0B3552"/>
                </a:solidFill>
                <a:latin typeface="Arial"/>
              </a:rPr>
              <a:t>Text was not enough</a:t>
            </a:r>
          </a:p>
        </p:txBody>
      </p:sp>
      <p:sp>
        <p:nvSpPr>
          <p:cNvPr id="4" name="TextBox 3"/>
          <p:cNvSpPr txBox="1"/>
          <p:nvPr/>
        </p:nvSpPr>
        <p:spPr>
          <a:xfrm>
            <a:off x="658368" y="1709928"/>
            <a:ext cx="10004962" cy="4114800"/>
          </a:xfrm>
          <a:prstGeom prst="rect">
            <a:avLst/>
          </a:prstGeom>
          <a:noFill/>
        </p:spPr>
        <p:txBody>
          <a:bodyPr wrap="square" lIns="0" rIns="0" tIns="0" bIns="0" anchor="t">
            <a:spAutoFit/>
          </a:bodyPr>
          <a:lstStyle/>
          <a:p>
            <a:pPr algn="l">
              <a:spcBef>
                <a:spcPts val="0"/>
              </a:spcBef>
              <a:spcAft>
                <a:spcPts val="1100"/>
              </a:spcAft>
            </a:pPr>
            <a:r>
              <a:rPr sz="1500" b="1" i="0">
                <a:solidFill>
                  <a:srgbClr val="107A84"/>
                </a:solidFill>
                <a:latin typeface="Arial"/>
              </a:rPr>
              <a:t>—  </a:t>
            </a:r>
            <a:r>
              <a:rPr sz="1500" b="0" i="0">
                <a:solidFill>
                  <a:srgbClr val="14222E"/>
                </a:solidFill>
                <a:latin typeface="Arial"/>
              </a:rPr>
              <a:t>The expert described outward node advancement in natural language; the AI produced a first C++ implementation</a:t>
            </a:r>
          </a:p>
          <a:p>
            <a:pPr>
              <a:spcBef>
                <a:spcPts val="0"/>
              </a:spcBef>
              <a:spcAft>
                <a:spcPts val="1100"/>
              </a:spcAft>
            </a:pPr>
            <a:r>
              <a:rPr sz="1500" b="1" i="0">
                <a:solidFill>
                  <a:srgbClr val="107A84"/>
                </a:solidFill>
                <a:latin typeface="Arial"/>
              </a:rPr>
              <a:t>—  </a:t>
            </a:r>
            <a:r>
              <a:rPr sz="1500" b="0" i="0">
                <a:solidFill>
                  <a:srgbClr val="14222E"/>
                </a:solidFill>
                <a:latin typeface="Arial"/>
              </a:rPr>
              <a:t>Text description alone </a:t>
            </a:r>
            <a:r>
              <a:rPr sz="1500" b="1" i="0">
                <a:solidFill>
                  <a:srgbClr val="14222E"/>
                </a:solidFill>
                <a:latin typeface="Arial"/>
              </a:rPr>
              <a:t>could not resolve the geometric failures</a:t>
            </a:r>
          </a:p>
          <a:p>
            <a:pPr>
              <a:spcBef>
                <a:spcPts val="0"/>
              </a:spcBef>
              <a:spcAft>
                <a:spcPts val="1100"/>
              </a:spcAft>
            </a:pPr>
            <a:r>
              <a:rPr sz="1500" b="1" i="0">
                <a:solidFill>
                  <a:srgbClr val="107A84"/>
                </a:solidFill>
                <a:latin typeface="Arial"/>
              </a:rPr>
              <a:t>—  </a:t>
            </a:r>
            <a:r>
              <a:rPr sz="1500" b="0" i="0">
                <a:solidFill>
                  <a:srgbClr val="14222E"/>
                </a:solidFill>
                <a:latin typeface="Arial"/>
              </a:rPr>
              <a:t>Actual runtime output was needed to find self-intersections at sharp trailing edges and wrong fan-node counts at convex corners</a:t>
            </a:r>
          </a:p>
          <a:p>
            <a:pPr>
              <a:spcBef>
                <a:spcPts val="0"/>
              </a:spcBef>
              <a:spcAft>
                <a:spcPts val="1100"/>
              </a:spcAft>
            </a:pPr>
            <a:r>
              <a:rPr sz="1500" b="1" i="0">
                <a:solidFill>
                  <a:srgbClr val="107A84"/>
                </a:solidFill>
                <a:latin typeface="Arial"/>
              </a:rPr>
              <a:t>—  </a:t>
            </a:r>
            <a:r>
              <a:rPr sz="1500" b="0" i="0">
                <a:solidFill>
                  <a:srgbClr val="14222E"/>
                </a:solidFill>
                <a:latin typeface="Arial"/>
              </a:rPr>
              <a:t>More precise prompts consistently reduced the number of correction rounds</a:t>
            </a:r>
          </a:p>
          <a:p>
            <a:pPr>
              <a:spcBef>
                <a:spcPts val="0"/>
              </a:spcBef>
              <a:spcAft>
                <a:spcPts val="0"/>
              </a:spcAft>
            </a:pPr>
            <a:r>
              <a:rPr sz="1500" b="1" i="0">
                <a:solidFill>
                  <a:srgbClr val="107A84"/>
                </a:solidFill>
                <a:latin typeface="Arial"/>
              </a:rPr>
              <a:t>—  </a:t>
            </a:r>
            <a:r>
              <a:rPr sz="1500" b="0" i="0">
                <a:solidFill>
                  <a:srgbClr val="14222E"/>
                </a:solidFill>
                <a:latin typeface="Arial"/>
              </a:rPr>
              <a:t>Even a fix the AI reported as correct still needed </a:t>
            </a:r>
            <a:r>
              <a:rPr sz="1500" b="1" i="0">
                <a:solidFill>
                  <a:srgbClr val="14222E"/>
                </a:solidFill>
                <a:latin typeface="Arial"/>
              </a:rPr>
              <a:t>physical validation</a:t>
            </a:r>
            <a:r>
              <a:rPr sz="1500" b="0" i="0">
                <a:solidFill>
                  <a:srgbClr val="14222E"/>
                </a:solidFill>
                <a:latin typeface="Arial"/>
              </a:rPr>
              <a:t>, to catch discrepancies that appeared only in real use</a:t>
            </a:r>
          </a:p>
        </p:txBody>
      </p:sp>
      <p:sp>
        <p:nvSpPr>
          <p:cNvPr id="5" name="TextBox 4"/>
          <p:cNvSpPr txBox="1"/>
          <p:nvPr/>
        </p:nvSpPr>
        <p:spPr>
          <a:xfrm>
            <a:off x="658368" y="6382512"/>
            <a:ext cx="7612471" cy="219456"/>
          </a:xfrm>
          <a:prstGeom prst="rect">
            <a:avLst/>
          </a:prstGeom>
          <a:noFill/>
        </p:spPr>
        <p:txBody>
          <a:bodyPr wrap="square" lIns="0" rIns="0" tIns="0" bIns="0" anchor="t">
            <a:spAutoFit/>
          </a:bodyPr>
          <a:lstStyle/>
          <a:p>
            <a:pPr algn="l"/>
            <a:r>
              <a:rPr sz="850" b="0" i="0">
                <a:solidFill>
                  <a:srgbClr val="9AA8B0"/>
                </a:solidFill>
                <a:latin typeface="Arial"/>
              </a:rPr>
              <a:t>An Integrated CFD Workflow Platform for In-House Solvers</a:t>
            </a:r>
          </a:p>
        </p:txBody>
      </p:sp>
      <p:sp>
        <p:nvSpPr>
          <p:cNvPr id="6" name="TextBox 5"/>
          <p:cNvSpPr txBox="1"/>
          <p:nvPr/>
        </p:nvSpPr>
        <p:spPr>
          <a:xfrm>
            <a:off x="10801807" y="6382512"/>
            <a:ext cx="731520" cy="219456"/>
          </a:xfrm>
          <a:prstGeom prst="rect">
            <a:avLst/>
          </a:prstGeom>
          <a:noFill/>
        </p:spPr>
        <p:txBody>
          <a:bodyPr wrap="square" lIns="0" rIns="0" tIns="0" bIns="0" anchor="t">
            <a:spAutoFit/>
          </a:bodyPr>
          <a:lstStyle/>
          <a:p>
            <a:pPr algn="r"/>
            <a:r>
              <a:rPr sz="950" b="1" i="0">
                <a:solidFill>
                  <a:srgbClr val="9AA8B0"/>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56032"/>
          </a:xfrm>
          <a:prstGeom prst="rect">
            <a:avLst/>
          </a:prstGeom>
          <a:noFill/>
        </p:spPr>
        <p:txBody>
          <a:bodyPr wrap="square" lIns="0" rIns="0" tIns="0" bIns="0" anchor="t">
            <a:spAutoFit/>
          </a:bodyPr>
          <a:lstStyle/>
          <a:p>
            <a:pPr algn="l"/>
            <a:r>
              <a:rPr sz="1150" b="1" i="0">
                <a:solidFill>
                  <a:srgbClr val="107A84"/>
                </a:solidFill>
                <a:latin typeface="Arial"/>
              </a:rPr>
              <a:t>METHODOLOGY — THE RECORD</a:t>
            </a:r>
          </a:p>
        </p:txBody>
      </p:sp>
      <p:sp>
        <p:nvSpPr>
          <p:cNvPr id="3" name="TextBox 2"/>
          <p:cNvSpPr txBox="1"/>
          <p:nvPr/>
        </p:nvSpPr>
        <p:spPr>
          <a:xfrm>
            <a:off x="658368" y="786384"/>
            <a:ext cx="10874959" cy="640080"/>
          </a:xfrm>
          <a:prstGeom prst="rect">
            <a:avLst/>
          </a:prstGeom>
          <a:noFill/>
        </p:spPr>
        <p:txBody>
          <a:bodyPr wrap="square" lIns="0" rIns="0" tIns="0" bIns="0" anchor="t">
            <a:spAutoFit/>
          </a:bodyPr>
          <a:lstStyle/>
          <a:p>
            <a:pPr algn="l"/>
            <a:r>
              <a:rPr sz="2700" b="1" i="0">
                <a:solidFill>
                  <a:srgbClr val="0B3552"/>
                </a:solidFill>
                <a:latin typeface="Arial"/>
              </a:rPr>
              <a:t>What the logs say</a:t>
            </a:r>
          </a:p>
        </p:txBody>
      </p:sp>
      <p:sp>
        <p:nvSpPr>
          <p:cNvPr id="4" name="TextBox 3"/>
          <p:cNvSpPr txBox="1"/>
          <p:nvPr/>
        </p:nvSpPr>
        <p:spPr>
          <a:xfrm>
            <a:off x="658368" y="1481328"/>
            <a:ext cx="9352464" cy="365760"/>
          </a:xfrm>
          <a:prstGeom prst="rect">
            <a:avLst/>
          </a:prstGeom>
          <a:noFill/>
        </p:spPr>
        <p:txBody>
          <a:bodyPr wrap="square" lIns="0" rIns="0" tIns="0" bIns="0" anchor="t">
            <a:spAutoFit/>
          </a:bodyPr>
          <a:lstStyle/>
          <a:p>
            <a:pPr algn="l"/>
            <a:r>
              <a:rPr sz="1400" b="0" i="0">
                <a:solidFill>
                  <a:srgbClr val="5B6B78"/>
                </a:solidFill>
                <a:latin typeface="Arial"/>
              </a:rPr>
              <a:t>Reported as case-study observations, not controlled experimental results.</a:t>
            </a:r>
          </a:p>
        </p:txBody>
      </p:sp>
      <p:sp>
        <p:nvSpPr>
          <p:cNvPr id="5" name="Rounded Rectangle 4"/>
          <p:cNvSpPr/>
          <p:nvPr/>
        </p:nvSpPr>
        <p:spPr>
          <a:xfrm>
            <a:off x="658368" y="2194560"/>
            <a:ext cx="5282031" cy="1170432"/>
          </a:xfrm>
          <a:prstGeom prst="roundRect">
            <a:avLst>
              <a:gd name="adj" fmla="val 6000"/>
            </a:avLst>
          </a:prstGeom>
          <a:solidFill>
            <a:srgbClr val="F2F6F8"/>
          </a:solidFill>
          <a:ln w="12700">
            <a:solidFill>
              <a:srgbClr val="D5D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0976" y="2148840"/>
            <a:ext cx="4696815" cy="877824"/>
          </a:xfrm>
          <a:prstGeom prst="rect">
            <a:avLst/>
          </a:prstGeom>
          <a:noFill/>
        </p:spPr>
        <p:txBody>
          <a:bodyPr wrap="square" lIns="0" rIns="0" tIns="0" bIns="0" anchor="t">
            <a:spAutoFit/>
          </a:bodyPr>
          <a:lstStyle/>
          <a:p>
            <a:pPr algn="l"/>
            <a:r>
              <a:rPr sz="3000" b="1" i="0">
                <a:solidFill>
                  <a:srgbClr val="107A84"/>
                </a:solidFill>
                <a:latin typeface="Arial"/>
              </a:rPr>
              <a:t>~70–80%</a:t>
            </a:r>
          </a:p>
        </p:txBody>
      </p:sp>
      <p:sp>
        <p:nvSpPr>
          <p:cNvPr id="7" name="TextBox 6"/>
          <p:cNvSpPr txBox="1"/>
          <p:nvPr/>
        </p:nvSpPr>
        <p:spPr>
          <a:xfrm>
            <a:off x="950976" y="3081528"/>
            <a:ext cx="4696815" cy="384048"/>
          </a:xfrm>
          <a:prstGeom prst="rect">
            <a:avLst/>
          </a:prstGeom>
          <a:noFill/>
        </p:spPr>
        <p:txBody>
          <a:bodyPr wrap="square" lIns="0" rIns="0" tIns="0" bIns="0" anchor="t">
            <a:spAutoFit/>
          </a:bodyPr>
          <a:lstStyle/>
          <a:p>
            <a:pPr algn="l"/>
            <a:r>
              <a:rPr sz="1250" b="0" i="0">
                <a:solidFill>
                  <a:srgbClr val="5B6B78"/>
                </a:solidFill>
                <a:latin typeface="Arial"/>
              </a:rPr>
              <a:t>of code AI-generated, by line count</a:t>
            </a:r>
          </a:p>
        </p:txBody>
      </p:sp>
      <p:sp>
        <p:nvSpPr>
          <p:cNvPr id="8" name="Rounded Rectangle 7"/>
          <p:cNvSpPr/>
          <p:nvPr/>
        </p:nvSpPr>
        <p:spPr>
          <a:xfrm>
            <a:off x="6251295" y="2194560"/>
            <a:ext cx="5282031" cy="1170432"/>
          </a:xfrm>
          <a:prstGeom prst="roundRect">
            <a:avLst>
              <a:gd name="adj" fmla="val 6000"/>
            </a:avLst>
          </a:prstGeom>
          <a:solidFill>
            <a:srgbClr val="F2F6F8"/>
          </a:solidFill>
          <a:ln w="12700">
            <a:solidFill>
              <a:srgbClr val="D5D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543903" y="2148840"/>
            <a:ext cx="4696815" cy="877824"/>
          </a:xfrm>
          <a:prstGeom prst="rect">
            <a:avLst/>
          </a:prstGeom>
          <a:noFill/>
        </p:spPr>
        <p:txBody>
          <a:bodyPr wrap="square" lIns="0" rIns="0" tIns="0" bIns="0" anchor="t">
            <a:spAutoFit/>
          </a:bodyPr>
          <a:lstStyle/>
          <a:p>
            <a:pPr algn="l"/>
            <a:r>
              <a:rPr sz="3000" b="1" i="0">
                <a:solidFill>
                  <a:srgbClr val="107A84"/>
                </a:solidFill>
                <a:latin typeface="Arial"/>
              </a:rPr>
              <a:t>2–5</a:t>
            </a:r>
          </a:p>
        </p:txBody>
      </p:sp>
      <p:sp>
        <p:nvSpPr>
          <p:cNvPr id="10" name="TextBox 9"/>
          <p:cNvSpPr txBox="1"/>
          <p:nvPr/>
        </p:nvSpPr>
        <p:spPr>
          <a:xfrm>
            <a:off x="6543903" y="3081528"/>
            <a:ext cx="4696815" cy="384048"/>
          </a:xfrm>
          <a:prstGeom prst="rect">
            <a:avLst/>
          </a:prstGeom>
          <a:noFill/>
        </p:spPr>
        <p:txBody>
          <a:bodyPr wrap="square" lIns="0" rIns="0" tIns="0" bIns="0" anchor="t">
            <a:spAutoFit/>
          </a:bodyPr>
          <a:lstStyle/>
          <a:p>
            <a:pPr algn="l"/>
            <a:r>
              <a:rPr sz="1250" b="0" i="0">
                <a:solidFill>
                  <a:srgbClr val="5B6B78"/>
                </a:solidFill>
                <a:latin typeface="Arial"/>
              </a:rPr>
              <a:t>median correction rounds per feature</a:t>
            </a:r>
          </a:p>
        </p:txBody>
      </p:sp>
      <p:sp>
        <p:nvSpPr>
          <p:cNvPr id="11" name="Rounded Rectangle 10"/>
          <p:cNvSpPr/>
          <p:nvPr/>
        </p:nvSpPr>
        <p:spPr>
          <a:xfrm>
            <a:off x="658368" y="3639312"/>
            <a:ext cx="5282031" cy="1170432"/>
          </a:xfrm>
          <a:prstGeom prst="roundRect">
            <a:avLst>
              <a:gd name="adj" fmla="val 6000"/>
            </a:avLst>
          </a:prstGeom>
          <a:solidFill>
            <a:srgbClr val="F2F6F8"/>
          </a:solidFill>
          <a:ln w="12700">
            <a:solidFill>
              <a:srgbClr val="D5D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0976" y="3593592"/>
            <a:ext cx="4696815" cy="877824"/>
          </a:xfrm>
          <a:prstGeom prst="rect">
            <a:avLst/>
          </a:prstGeom>
          <a:noFill/>
        </p:spPr>
        <p:txBody>
          <a:bodyPr wrap="square" lIns="0" rIns="0" tIns="0" bIns="0" anchor="t">
            <a:spAutoFit/>
          </a:bodyPr>
          <a:lstStyle/>
          <a:p>
            <a:pPr algn="l"/>
            <a:r>
              <a:rPr sz="3000" b="1" i="0">
                <a:solidFill>
                  <a:srgbClr val="107A84"/>
                </a:solidFill>
                <a:latin typeface="Arial"/>
              </a:rPr>
              <a:t>~4–6 weeks</a:t>
            </a:r>
          </a:p>
        </p:txBody>
      </p:sp>
      <p:sp>
        <p:nvSpPr>
          <p:cNvPr id="13" name="TextBox 12"/>
          <p:cNvSpPr txBox="1"/>
          <p:nvPr/>
        </p:nvSpPr>
        <p:spPr>
          <a:xfrm>
            <a:off x="950976" y="4526280"/>
            <a:ext cx="4696815" cy="384048"/>
          </a:xfrm>
          <a:prstGeom prst="rect">
            <a:avLst/>
          </a:prstGeom>
          <a:noFill/>
        </p:spPr>
        <p:txBody>
          <a:bodyPr wrap="square" lIns="0" rIns="0" tIns="0" bIns="0" anchor="t">
            <a:spAutoFit/>
          </a:bodyPr>
          <a:lstStyle/>
          <a:p>
            <a:pPr algn="l"/>
            <a:r>
              <a:rPr sz="1250" b="0" i="0">
                <a:solidFill>
                  <a:srgbClr val="5B6B78"/>
                </a:solidFill>
                <a:latin typeface="Arial"/>
              </a:rPr>
              <a:t>total effort, vs. 3–6 months conventional</a:t>
            </a:r>
          </a:p>
        </p:txBody>
      </p:sp>
      <p:sp>
        <p:nvSpPr>
          <p:cNvPr id="14" name="Rounded Rectangle 13"/>
          <p:cNvSpPr/>
          <p:nvPr/>
        </p:nvSpPr>
        <p:spPr>
          <a:xfrm>
            <a:off x="6251295" y="3639312"/>
            <a:ext cx="5282031" cy="1170432"/>
          </a:xfrm>
          <a:prstGeom prst="roundRect">
            <a:avLst>
              <a:gd name="adj" fmla="val 6000"/>
            </a:avLst>
          </a:prstGeom>
          <a:solidFill>
            <a:srgbClr val="F2F6F8"/>
          </a:solidFill>
          <a:ln w="12700">
            <a:solidFill>
              <a:srgbClr val="D5D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43903" y="3593592"/>
            <a:ext cx="4696815" cy="877824"/>
          </a:xfrm>
          <a:prstGeom prst="rect">
            <a:avLst/>
          </a:prstGeom>
          <a:noFill/>
        </p:spPr>
        <p:txBody>
          <a:bodyPr wrap="square" lIns="0" rIns="0" tIns="0" bIns="0" anchor="t">
            <a:spAutoFit/>
          </a:bodyPr>
          <a:lstStyle/>
          <a:p>
            <a:pPr algn="l"/>
            <a:r>
              <a:rPr sz="3000" b="1" i="0">
                <a:solidFill>
                  <a:srgbClr val="107A84"/>
                </a:solidFill>
                <a:latin typeface="Arial"/>
              </a:rPr>
              <a:t>1</a:t>
            </a:r>
          </a:p>
        </p:txBody>
      </p:sp>
      <p:sp>
        <p:nvSpPr>
          <p:cNvPr id="16" name="TextBox 15"/>
          <p:cNvSpPr txBox="1"/>
          <p:nvPr/>
        </p:nvSpPr>
        <p:spPr>
          <a:xfrm>
            <a:off x="6543903" y="4526280"/>
            <a:ext cx="4696815" cy="384048"/>
          </a:xfrm>
          <a:prstGeom prst="rect">
            <a:avLst/>
          </a:prstGeom>
          <a:noFill/>
        </p:spPr>
        <p:txBody>
          <a:bodyPr wrap="square" lIns="0" rIns="0" tIns="0" bIns="0" anchor="t">
            <a:spAutoFit/>
          </a:bodyPr>
          <a:lstStyle/>
          <a:p>
            <a:pPr algn="l"/>
            <a:r>
              <a:rPr sz="1250" b="0" i="0">
                <a:solidFill>
                  <a:srgbClr val="5B6B78"/>
                </a:solidFill>
                <a:latin typeface="Arial"/>
              </a:rPr>
              <a:t>domain expert — no dedicated GUI engineer</a:t>
            </a:r>
          </a:p>
        </p:txBody>
      </p:sp>
      <p:sp>
        <p:nvSpPr>
          <p:cNvPr id="17" name="TextBox 16"/>
          <p:cNvSpPr txBox="1"/>
          <p:nvPr/>
        </p:nvSpPr>
        <p:spPr>
          <a:xfrm>
            <a:off x="658368" y="6382512"/>
            <a:ext cx="7612471" cy="219456"/>
          </a:xfrm>
          <a:prstGeom prst="rect">
            <a:avLst/>
          </a:prstGeom>
          <a:noFill/>
        </p:spPr>
        <p:txBody>
          <a:bodyPr wrap="square" lIns="0" rIns="0" tIns="0" bIns="0" anchor="t">
            <a:spAutoFit/>
          </a:bodyPr>
          <a:lstStyle/>
          <a:p>
            <a:pPr algn="l"/>
            <a:r>
              <a:rPr sz="850" b="0" i="0">
                <a:solidFill>
                  <a:srgbClr val="9AA8B0"/>
                </a:solidFill>
                <a:latin typeface="Arial"/>
              </a:rPr>
              <a:t>An Integrated CFD Workflow Platform for In-House Solvers</a:t>
            </a:r>
          </a:p>
        </p:txBody>
      </p:sp>
      <p:sp>
        <p:nvSpPr>
          <p:cNvPr id="18" name="TextBox 17"/>
          <p:cNvSpPr txBox="1"/>
          <p:nvPr/>
        </p:nvSpPr>
        <p:spPr>
          <a:xfrm>
            <a:off x="10801807" y="6382512"/>
            <a:ext cx="731520" cy="219456"/>
          </a:xfrm>
          <a:prstGeom prst="rect">
            <a:avLst/>
          </a:prstGeom>
          <a:noFill/>
        </p:spPr>
        <p:txBody>
          <a:bodyPr wrap="square" lIns="0" rIns="0" tIns="0" bIns="0" anchor="t">
            <a:spAutoFit/>
          </a:bodyPr>
          <a:lstStyle/>
          <a:p>
            <a:pPr algn="r"/>
            <a:r>
              <a:rPr sz="950" b="1" i="0">
                <a:solidFill>
                  <a:srgbClr val="9AA8B0"/>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56032"/>
          </a:xfrm>
          <a:prstGeom prst="rect">
            <a:avLst/>
          </a:prstGeom>
          <a:noFill/>
        </p:spPr>
        <p:txBody>
          <a:bodyPr wrap="square" lIns="0" rIns="0" tIns="0" bIns="0" anchor="t">
            <a:spAutoFit/>
          </a:bodyPr>
          <a:lstStyle/>
          <a:p>
            <a:pPr algn="l"/>
            <a:r>
              <a:rPr sz="1150" b="1" i="0">
                <a:solidFill>
                  <a:srgbClr val="107A84"/>
                </a:solidFill>
                <a:latin typeface="Arial"/>
              </a:rPr>
              <a:t>METHODOLOGY — WHERE IT HELPED</a:t>
            </a:r>
          </a:p>
        </p:txBody>
      </p:sp>
      <p:sp>
        <p:nvSpPr>
          <p:cNvPr id="3" name="TextBox 2"/>
          <p:cNvSpPr txBox="1"/>
          <p:nvPr/>
        </p:nvSpPr>
        <p:spPr>
          <a:xfrm>
            <a:off x="658368" y="786384"/>
            <a:ext cx="10874959" cy="640080"/>
          </a:xfrm>
          <a:prstGeom prst="rect">
            <a:avLst/>
          </a:prstGeom>
          <a:noFill/>
        </p:spPr>
        <p:txBody>
          <a:bodyPr wrap="square" lIns="0" rIns="0" tIns="0" bIns="0" anchor="t">
            <a:spAutoFit/>
          </a:bodyPr>
          <a:lstStyle/>
          <a:p>
            <a:pPr algn="l"/>
            <a:r>
              <a:rPr sz="2700" b="1" i="0">
                <a:solidFill>
                  <a:srgbClr val="0B3552"/>
                </a:solidFill>
                <a:latin typeface="Arial"/>
              </a:rPr>
              <a:t>The contribution was unevenly distributed</a:t>
            </a:r>
          </a:p>
        </p:txBody>
      </p:sp>
      <p:sp>
        <p:nvSpPr>
          <p:cNvPr id="4" name="TextBox 3"/>
          <p:cNvSpPr txBox="1"/>
          <p:nvPr/>
        </p:nvSpPr>
        <p:spPr>
          <a:xfrm>
            <a:off x="658368" y="1865376"/>
            <a:ext cx="9686239" cy="310896"/>
          </a:xfrm>
          <a:prstGeom prst="rect">
            <a:avLst/>
          </a:prstGeom>
          <a:noFill/>
        </p:spPr>
        <p:txBody>
          <a:bodyPr wrap="square" lIns="0" rIns="0" tIns="0" bIns="0" anchor="t">
            <a:spAutoFit/>
          </a:bodyPr>
          <a:lstStyle/>
          <a:p>
            <a:pPr algn="l"/>
            <a:r>
              <a:rPr sz="1350" b="0" i="0">
                <a:solidFill>
                  <a:srgbClr val="14222E"/>
                </a:solidFill>
                <a:latin typeface="Arial"/>
              </a:rPr>
              <a:t>GUI boilerplate, widget layouts, signal–slot wiring, file I/O</a:t>
            </a:r>
          </a:p>
        </p:txBody>
      </p:sp>
      <p:sp>
        <p:nvSpPr>
          <p:cNvPr id="5" name="TextBox 4"/>
          <p:cNvSpPr txBox="1"/>
          <p:nvPr/>
        </p:nvSpPr>
        <p:spPr>
          <a:xfrm>
            <a:off x="10481767" y="1828800"/>
            <a:ext cx="1051560" cy="365760"/>
          </a:xfrm>
          <a:prstGeom prst="rect">
            <a:avLst/>
          </a:prstGeom>
          <a:noFill/>
        </p:spPr>
        <p:txBody>
          <a:bodyPr wrap="square" lIns="0" rIns="0" tIns="0" bIns="0" anchor="t">
            <a:spAutoFit/>
          </a:bodyPr>
          <a:lstStyle/>
          <a:p>
            <a:pPr algn="r"/>
            <a:r>
              <a:rPr sz="1500" b="1" i="0">
                <a:solidFill>
                  <a:srgbClr val="C26A0B"/>
                </a:solidFill>
                <a:latin typeface="Arial"/>
              </a:rPr>
              <a:t>~80–90%</a:t>
            </a:r>
          </a:p>
        </p:txBody>
      </p:sp>
      <p:sp>
        <p:nvSpPr>
          <p:cNvPr id="6" name="Rectangle 5"/>
          <p:cNvSpPr/>
          <p:nvPr/>
        </p:nvSpPr>
        <p:spPr>
          <a:xfrm>
            <a:off x="658368" y="2267712"/>
            <a:ext cx="9686239" cy="310896"/>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58368" y="2267712"/>
            <a:ext cx="8233303" cy="310896"/>
          </a:xfrm>
          <a:prstGeom prst="rect">
            <a:avLst/>
          </a:prstGeom>
          <a:solidFill>
            <a:srgbClr val="107A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054096"/>
            <a:ext cx="9686239" cy="310896"/>
          </a:xfrm>
          <a:prstGeom prst="rect">
            <a:avLst/>
          </a:prstGeom>
          <a:noFill/>
        </p:spPr>
        <p:txBody>
          <a:bodyPr wrap="square" lIns="0" rIns="0" tIns="0" bIns="0" anchor="t">
            <a:spAutoFit/>
          </a:bodyPr>
          <a:lstStyle/>
          <a:p>
            <a:pPr algn="l"/>
            <a:r>
              <a:rPr sz="1350" b="0" i="0">
                <a:solidFill>
                  <a:srgbClr val="14222E"/>
                </a:solidFill>
                <a:latin typeface="Arial"/>
              </a:rPr>
              <a:t>Cross-component integration and domain-specific numerical logic</a:t>
            </a:r>
          </a:p>
        </p:txBody>
      </p:sp>
      <p:sp>
        <p:nvSpPr>
          <p:cNvPr id="9" name="TextBox 8"/>
          <p:cNvSpPr txBox="1"/>
          <p:nvPr/>
        </p:nvSpPr>
        <p:spPr>
          <a:xfrm>
            <a:off x="10481767" y="3017520"/>
            <a:ext cx="1051560" cy="365760"/>
          </a:xfrm>
          <a:prstGeom prst="rect">
            <a:avLst/>
          </a:prstGeom>
          <a:noFill/>
        </p:spPr>
        <p:txBody>
          <a:bodyPr wrap="square" lIns="0" rIns="0" tIns="0" bIns="0" anchor="t">
            <a:spAutoFit/>
          </a:bodyPr>
          <a:lstStyle/>
          <a:p>
            <a:pPr algn="r"/>
            <a:r>
              <a:rPr sz="1500" b="1" i="0">
                <a:solidFill>
                  <a:srgbClr val="C26A0B"/>
                </a:solidFill>
                <a:latin typeface="Arial"/>
              </a:rPr>
              <a:t>~40–60%</a:t>
            </a:r>
          </a:p>
        </p:txBody>
      </p:sp>
      <p:sp>
        <p:nvSpPr>
          <p:cNvPr id="10" name="Rectangle 9"/>
          <p:cNvSpPr/>
          <p:nvPr/>
        </p:nvSpPr>
        <p:spPr>
          <a:xfrm>
            <a:off x="658368" y="3456432"/>
            <a:ext cx="9686239" cy="310896"/>
          </a:xfrm>
          <a:prstGeom prst="rect">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58368" y="3456432"/>
            <a:ext cx="4843119" cy="310896"/>
          </a:xfrm>
          <a:prstGeom prst="rect">
            <a:avLst/>
          </a:prstGeom>
          <a:solidFill>
            <a:srgbClr val="107A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8368" y="4407407"/>
            <a:ext cx="10439960" cy="1463040"/>
          </a:xfrm>
          <a:prstGeom prst="rect">
            <a:avLst/>
          </a:prstGeom>
          <a:noFill/>
        </p:spPr>
        <p:txBody>
          <a:bodyPr wrap="square" lIns="0" rIns="0" tIns="0" bIns="0" anchor="t">
            <a:spAutoFit/>
          </a:bodyPr>
          <a:lstStyle/>
          <a:p>
            <a:pPr algn="l"/>
            <a:r>
              <a:rPr sz="1250" b="0" i="0">
                <a:solidFill>
                  <a:srgbClr val="5B6B78"/>
                </a:solidFill>
                <a:latin typeface="Arial"/>
              </a:rPr>
              <a:t>The 69-file, 18,000-line PyQt6 GUI was highly AI-productive for boilerplate — but workflow-level decisions (mode switching, cross-panel consistency) needed explicit human specification. The IBM and non-IBM output modes were discovered, only in live testing, to produce different stdout structures.</a:t>
            </a:r>
          </a:p>
        </p:txBody>
      </p:sp>
      <p:sp>
        <p:nvSpPr>
          <p:cNvPr id="13" name="TextBox 12"/>
          <p:cNvSpPr txBox="1"/>
          <p:nvPr/>
        </p:nvSpPr>
        <p:spPr>
          <a:xfrm>
            <a:off x="658368" y="6382512"/>
            <a:ext cx="7612471" cy="219456"/>
          </a:xfrm>
          <a:prstGeom prst="rect">
            <a:avLst/>
          </a:prstGeom>
          <a:noFill/>
        </p:spPr>
        <p:txBody>
          <a:bodyPr wrap="square" lIns="0" rIns="0" tIns="0" bIns="0" anchor="t">
            <a:spAutoFit/>
          </a:bodyPr>
          <a:lstStyle/>
          <a:p>
            <a:pPr algn="l"/>
            <a:r>
              <a:rPr sz="850" b="0" i="0">
                <a:solidFill>
                  <a:srgbClr val="9AA8B0"/>
                </a:solidFill>
                <a:latin typeface="Arial"/>
              </a:rPr>
              <a:t>An Integrated CFD Workflow Platform for In-House Solvers</a:t>
            </a:r>
          </a:p>
        </p:txBody>
      </p:sp>
      <p:sp>
        <p:nvSpPr>
          <p:cNvPr id="14" name="TextBox 13"/>
          <p:cNvSpPr txBox="1"/>
          <p:nvPr/>
        </p:nvSpPr>
        <p:spPr>
          <a:xfrm>
            <a:off x="10801807" y="6382512"/>
            <a:ext cx="731520" cy="219456"/>
          </a:xfrm>
          <a:prstGeom prst="rect">
            <a:avLst/>
          </a:prstGeom>
          <a:noFill/>
        </p:spPr>
        <p:txBody>
          <a:bodyPr wrap="square" lIns="0" rIns="0" tIns="0" bIns="0" anchor="t">
            <a:spAutoFit/>
          </a:bodyPr>
          <a:lstStyle/>
          <a:p>
            <a:pPr algn="r"/>
            <a:r>
              <a:rPr sz="950" b="1" i="0">
                <a:solidFill>
                  <a:srgbClr val="9AA8B0"/>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56032"/>
          </a:xfrm>
          <a:prstGeom prst="rect">
            <a:avLst/>
          </a:prstGeom>
          <a:noFill/>
        </p:spPr>
        <p:txBody>
          <a:bodyPr wrap="square" lIns="0" rIns="0" tIns="0" bIns="0" anchor="t">
            <a:spAutoFit/>
          </a:bodyPr>
          <a:lstStyle/>
          <a:p>
            <a:pPr algn="l"/>
            <a:r>
              <a:rPr sz="1150" b="1" i="0">
                <a:solidFill>
                  <a:srgbClr val="107A84"/>
                </a:solidFill>
                <a:latin typeface="Arial"/>
              </a:rPr>
              <a:t>EVALUATION</a:t>
            </a:r>
          </a:p>
        </p:txBody>
      </p:sp>
      <p:sp>
        <p:nvSpPr>
          <p:cNvPr id="3" name="TextBox 2"/>
          <p:cNvSpPr txBox="1"/>
          <p:nvPr/>
        </p:nvSpPr>
        <p:spPr>
          <a:xfrm>
            <a:off x="658368" y="786384"/>
            <a:ext cx="10874959" cy="640080"/>
          </a:xfrm>
          <a:prstGeom prst="rect">
            <a:avLst/>
          </a:prstGeom>
          <a:noFill/>
        </p:spPr>
        <p:txBody>
          <a:bodyPr wrap="square" lIns="0" rIns="0" tIns="0" bIns="0" anchor="t">
            <a:spAutoFit/>
          </a:bodyPr>
          <a:lstStyle/>
          <a:p>
            <a:pPr algn="l"/>
            <a:r>
              <a:rPr sz="2700" b="1" i="0">
                <a:solidFill>
                  <a:srgbClr val="0B3552"/>
                </a:solidFill>
                <a:latin typeface="Arial"/>
              </a:rPr>
              <a:t>Before and after</a:t>
            </a:r>
          </a:p>
        </p:txBody>
      </p:sp>
      <p:sp>
        <p:nvSpPr>
          <p:cNvPr id="4" name="TextBox 3"/>
          <p:cNvSpPr txBox="1"/>
          <p:nvPr/>
        </p:nvSpPr>
        <p:spPr>
          <a:xfrm>
            <a:off x="658368" y="1481328"/>
            <a:ext cx="9352464" cy="365760"/>
          </a:xfrm>
          <a:prstGeom prst="rect">
            <a:avLst/>
          </a:prstGeom>
          <a:noFill/>
        </p:spPr>
        <p:txBody>
          <a:bodyPr wrap="square" lIns="0" rIns="0" tIns="0" bIns="0" anchor="t">
            <a:spAutoFit/>
          </a:bodyPr>
          <a:lstStyle/>
          <a:p>
            <a:pPr algn="l"/>
            <a:r>
              <a:rPr sz="1400" b="0" i="0">
                <a:solidFill>
                  <a:srgbClr val="5B6B78"/>
                </a:solidFill>
                <a:latin typeface="Arial"/>
              </a:rPr>
              <a:t>Eliminating manual format conversion and inter-tool transfer at every stage.</a:t>
            </a:r>
          </a:p>
        </p:txBody>
      </p:sp>
      <p:sp>
        <p:nvSpPr>
          <p:cNvPr id="5" name="Rounded Rectangle 4"/>
          <p:cNvSpPr/>
          <p:nvPr/>
        </p:nvSpPr>
        <p:spPr>
          <a:xfrm>
            <a:off x="658368" y="2194560"/>
            <a:ext cx="3417722" cy="1700784"/>
          </a:xfrm>
          <a:prstGeom prst="roundRect">
            <a:avLst>
              <a:gd name="adj" fmla="val 6000"/>
            </a:avLst>
          </a:prstGeom>
          <a:solidFill>
            <a:srgbClr val="F2F6F8"/>
          </a:solidFill>
          <a:ln w="12700">
            <a:solidFill>
              <a:srgbClr val="D5D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50976" y="2414016"/>
            <a:ext cx="2832506" cy="877824"/>
          </a:xfrm>
          <a:prstGeom prst="rect">
            <a:avLst/>
          </a:prstGeom>
          <a:noFill/>
        </p:spPr>
        <p:txBody>
          <a:bodyPr wrap="square" lIns="0" rIns="0" tIns="0" bIns="0" anchor="t">
            <a:spAutoFit/>
          </a:bodyPr>
          <a:lstStyle/>
          <a:p>
            <a:pPr algn="l"/>
            <a:r>
              <a:rPr sz="3000" b="1" i="0">
                <a:solidFill>
                  <a:srgbClr val="107A84"/>
                </a:solidFill>
                <a:latin typeface="Arial"/>
              </a:rPr>
              <a:t>5 → 1</a:t>
            </a:r>
          </a:p>
        </p:txBody>
      </p:sp>
      <p:sp>
        <p:nvSpPr>
          <p:cNvPr id="7" name="TextBox 6"/>
          <p:cNvSpPr txBox="1"/>
          <p:nvPr/>
        </p:nvSpPr>
        <p:spPr>
          <a:xfrm>
            <a:off x="950976" y="3346704"/>
            <a:ext cx="2832506" cy="384048"/>
          </a:xfrm>
          <a:prstGeom prst="rect">
            <a:avLst/>
          </a:prstGeom>
          <a:noFill/>
        </p:spPr>
        <p:txBody>
          <a:bodyPr wrap="square" lIns="0" rIns="0" tIns="0" bIns="0" anchor="t">
            <a:spAutoFit/>
          </a:bodyPr>
          <a:lstStyle/>
          <a:p>
            <a:pPr algn="l"/>
            <a:r>
              <a:rPr sz="1250" b="0" i="0">
                <a:solidFill>
                  <a:srgbClr val="5B6B78"/>
                </a:solidFill>
                <a:latin typeface="Arial"/>
              </a:rPr>
              <a:t>separate tools required</a:t>
            </a:r>
          </a:p>
        </p:txBody>
      </p:sp>
      <p:sp>
        <p:nvSpPr>
          <p:cNvPr id="8" name="Rounded Rectangle 7"/>
          <p:cNvSpPr/>
          <p:nvPr/>
        </p:nvSpPr>
        <p:spPr>
          <a:xfrm>
            <a:off x="4386986" y="2194560"/>
            <a:ext cx="3417722" cy="1700784"/>
          </a:xfrm>
          <a:prstGeom prst="roundRect">
            <a:avLst>
              <a:gd name="adj" fmla="val 6000"/>
            </a:avLst>
          </a:prstGeom>
          <a:solidFill>
            <a:srgbClr val="F2F6F8"/>
          </a:solidFill>
          <a:ln w="12700">
            <a:solidFill>
              <a:srgbClr val="D5D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79594" y="2414016"/>
            <a:ext cx="2832506" cy="877824"/>
          </a:xfrm>
          <a:prstGeom prst="rect">
            <a:avLst/>
          </a:prstGeom>
          <a:noFill/>
        </p:spPr>
        <p:txBody>
          <a:bodyPr wrap="square" lIns="0" rIns="0" tIns="0" bIns="0" anchor="t">
            <a:spAutoFit/>
          </a:bodyPr>
          <a:lstStyle/>
          <a:p>
            <a:pPr algn="l"/>
            <a:r>
              <a:rPr sz="3000" b="1" i="0">
                <a:solidFill>
                  <a:srgbClr val="107A84"/>
                </a:solidFill>
                <a:latin typeface="Arial"/>
              </a:rPr>
              <a:t>~20 → ~5</a:t>
            </a:r>
          </a:p>
        </p:txBody>
      </p:sp>
      <p:sp>
        <p:nvSpPr>
          <p:cNvPr id="10" name="TextBox 9"/>
          <p:cNvSpPr txBox="1"/>
          <p:nvPr/>
        </p:nvSpPr>
        <p:spPr>
          <a:xfrm>
            <a:off x="4679594" y="3346704"/>
            <a:ext cx="2832506" cy="384048"/>
          </a:xfrm>
          <a:prstGeom prst="rect">
            <a:avLst/>
          </a:prstGeom>
          <a:noFill/>
        </p:spPr>
        <p:txBody>
          <a:bodyPr wrap="square" lIns="0" rIns="0" tIns="0" bIns="0" anchor="t">
            <a:spAutoFit/>
          </a:bodyPr>
          <a:lstStyle/>
          <a:p>
            <a:pPr algn="l"/>
            <a:r>
              <a:rPr sz="1250" b="0" i="0">
                <a:solidFill>
                  <a:srgbClr val="5B6B78"/>
                </a:solidFill>
                <a:latin typeface="Arial"/>
              </a:rPr>
              <a:t>manual steps per simulation</a:t>
            </a:r>
          </a:p>
        </p:txBody>
      </p:sp>
      <p:sp>
        <p:nvSpPr>
          <p:cNvPr id="11" name="Rounded Rectangle 10"/>
          <p:cNvSpPr/>
          <p:nvPr/>
        </p:nvSpPr>
        <p:spPr>
          <a:xfrm>
            <a:off x="8115604" y="2194560"/>
            <a:ext cx="3417722" cy="1700784"/>
          </a:xfrm>
          <a:prstGeom prst="roundRect">
            <a:avLst>
              <a:gd name="adj" fmla="val 6000"/>
            </a:avLst>
          </a:prstGeom>
          <a:solidFill>
            <a:srgbClr val="F2F6F8"/>
          </a:solidFill>
          <a:ln w="12700">
            <a:solidFill>
              <a:srgbClr val="D5D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08212" y="2414016"/>
            <a:ext cx="2832506" cy="877824"/>
          </a:xfrm>
          <a:prstGeom prst="rect">
            <a:avLst/>
          </a:prstGeom>
          <a:noFill/>
        </p:spPr>
        <p:txBody>
          <a:bodyPr wrap="square" lIns="0" rIns="0" tIns="0" bIns="0" anchor="t">
            <a:spAutoFit/>
          </a:bodyPr>
          <a:lstStyle/>
          <a:p>
            <a:pPr algn="l"/>
            <a:r>
              <a:rPr sz="3000" b="1" i="0">
                <a:solidFill>
                  <a:srgbClr val="107A84"/>
                </a:solidFill>
                <a:latin typeface="Arial"/>
              </a:rPr>
              <a:t>~2 weeks → ~2 days</a:t>
            </a:r>
          </a:p>
        </p:txBody>
      </p:sp>
      <p:sp>
        <p:nvSpPr>
          <p:cNvPr id="13" name="TextBox 12"/>
          <p:cNvSpPr txBox="1"/>
          <p:nvPr/>
        </p:nvSpPr>
        <p:spPr>
          <a:xfrm>
            <a:off x="8408212" y="3346704"/>
            <a:ext cx="2832506" cy="384048"/>
          </a:xfrm>
          <a:prstGeom prst="rect">
            <a:avLst/>
          </a:prstGeom>
          <a:noFill/>
        </p:spPr>
        <p:txBody>
          <a:bodyPr wrap="square" lIns="0" rIns="0" tIns="0" bIns="0" anchor="t">
            <a:spAutoFit/>
          </a:bodyPr>
          <a:lstStyle/>
          <a:p>
            <a:pPr algn="l"/>
            <a:r>
              <a:rPr sz="1250" b="0" i="0">
                <a:solidFill>
                  <a:srgbClr val="5B6B78"/>
                </a:solidFill>
                <a:latin typeface="Arial"/>
              </a:rPr>
              <a:t>time for a new user to become familiar</a:t>
            </a:r>
          </a:p>
        </p:txBody>
      </p:sp>
      <p:sp>
        <p:nvSpPr>
          <p:cNvPr id="14" name="TextBox 13"/>
          <p:cNvSpPr txBox="1"/>
          <p:nvPr/>
        </p:nvSpPr>
        <p:spPr>
          <a:xfrm>
            <a:off x="658368" y="4279392"/>
            <a:ext cx="10874959" cy="548640"/>
          </a:xfrm>
          <a:prstGeom prst="rect">
            <a:avLst/>
          </a:prstGeom>
          <a:noFill/>
        </p:spPr>
        <p:txBody>
          <a:bodyPr wrap="square" lIns="0" rIns="0" tIns="0" bIns="0" anchor="t">
            <a:spAutoFit/>
          </a:bodyPr>
          <a:lstStyle/>
          <a:p>
            <a:pPr algn="l"/>
            <a:r>
              <a:rPr sz="1250" b="0" i="0">
                <a:solidFill>
                  <a:srgbClr val="14222E"/>
                </a:solidFill>
                <a:latin typeface="Arial"/>
              </a:rPr>
              <a:t>Indicative figures from informal observation, not controlled experimental results.</a:t>
            </a:r>
          </a:p>
        </p:txBody>
      </p:sp>
      <p:sp>
        <p:nvSpPr>
          <p:cNvPr id="15" name="TextBox 14"/>
          <p:cNvSpPr txBox="1"/>
          <p:nvPr/>
        </p:nvSpPr>
        <p:spPr>
          <a:xfrm>
            <a:off x="658368" y="6382512"/>
            <a:ext cx="7612471" cy="219456"/>
          </a:xfrm>
          <a:prstGeom prst="rect">
            <a:avLst/>
          </a:prstGeom>
          <a:noFill/>
        </p:spPr>
        <p:txBody>
          <a:bodyPr wrap="square" lIns="0" rIns="0" tIns="0" bIns="0" anchor="t">
            <a:spAutoFit/>
          </a:bodyPr>
          <a:lstStyle/>
          <a:p>
            <a:pPr algn="l"/>
            <a:r>
              <a:rPr sz="850" b="0" i="0">
                <a:solidFill>
                  <a:srgbClr val="9AA8B0"/>
                </a:solidFill>
                <a:latin typeface="Arial"/>
              </a:rPr>
              <a:t>An Integrated CFD Workflow Platform for In-House Solvers</a:t>
            </a:r>
          </a:p>
        </p:txBody>
      </p:sp>
      <p:sp>
        <p:nvSpPr>
          <p:cNvPr id="16" name="TextBox 15"/>
          <p:cNvSpPr txBox="1"/>
          <p:nvPr/>
        </p:nvSpPr>
        <p:spPr>
          <a:xfrm>
            <a:off x="10801807" y="6382512"/>
            <a:ext cx="731520" cy="219456"/>
          </a:xfrm>
          <a:prstGeom prst="rect">
            <a:avLst/>
          </a:prstGeom>
          <a:noFill/>
        </p:spPr>
        <p:txBody>
          <a:bodyPr wrap="square" lIns="0" rIns="0" tIns="0" bIns="0" anchor="t">
            <a:spAutoFit/>
          </a:bodyPr>
          <a:lstStyle/>
          <a:p>
            <a:pPr algn="r"/>
            <a:r>
              <a:rPr sz="950" b="1" i="0">
                <a:solidFill>
                  <a:srgbClr val="9AA8B0"/>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56032"/>
          </a:xfrm>
          <a:prstGeom prst="rect">
            <a:avLst/>
          </a:prstGeom>
          <a:noFill/>
        </p:spPr>
        <p:txBody>
          <a:bodyPr wrap="square" lIns="0" rIns="0" tIns="0" bIns="0" anchor="t">
            <a:spAutoFit/>
          </a:bodyPr>
          <a:lstStyle/>
          <a:p>
            <a:pPr algn="l"/>
            <a:r>
              <a:rPr sz="1150" b="1" i="0">
                <a:solidFill>
                  <a:srgbClr val="107A84"/>
                </a:solidFill>
                <a:latin typeface="Arial"/>
              </a:rPr>
              <a:t>DISCUSSION</a:t>
            </a:r>
          </a:p>
        </p:txBody>
      </p:sp>
      <p:sp>
        <p:nvSpPr>
          <p:cNvPr id="3" name="TextBox 2"/>
          <p:cNvSpPr txBox="1"/>
          <p:nvPr/>
        </p:nvSpPr>
        <p:spPr>
          <a:xfrm>
            <a:off x="658368" y="786384"/>
            <a:ext cx="10874959" cy="640080"/>
          </a:xfrm>
          <a:prstGeom prst="rect">
            <a:avLst/>
          </a:prstGeom>
          <a:noFill/>
        </p:spPr>
        <p:txBody>
          <a:bodyPr wrap="square" lIns="0" rIns="0" tIns="0" bIns="0" anchor="t">
            <a:spAutoFit/>
          </a:bodyPr>
          <a:lstStyle/>
          <a:p>
            <a:pPr algn="l"/>
            <a:r>
              <a:rPr sz="2700" b="1" i="0">
                <a:solidFill>
                  <a:srgbClr val="0B3552"/>
                </a:solidFill>
                <a:latin typeface="Arial"/>
              </a:rPr>
              <a:t>The oversight that proved indispensable</a:t>
            </a:r>
          </a:p>
        </p:txBody>
      </p:sp>
      <p:sp>
        <p:nvSpPr>
          <p:cNvPr id="4" name="TextBox 3"/>
          <p:cNvSpPr txBox="1"/>
          <p:nvPr/>
        </p:nvSpPr>
        <p:spPr>
          <a:xfrm>
            <a:off x="658368" y="1481328"/>
            <a:ext cx="9352464" cy="365760"/>
          </a:xfrm>
          <a:prstGeom prst="rect">
            <a:avLst/>
          </a:prstGeom>
          <a:noFill/>
        </p:spPr>
        <p:txBody>
          <a:bodyPr wrap="square" lIns="0" rIns="0" tIns="0" bIns="0" anchor="t">
            <a:spAutoFit/>
          </a:bodyPr>
          <a:lstStyle/>
          <a:p>
            <a:pPr algn="l"/>
            <a:r>
              <a:rPr sz="1400" b="0" i="0">
                <a:solidFill>
                  <a:srgbClr val="5B6B78"/>
                </a:solidFill>
                <a:latin typeface="Arial"/>
              </a:rPr>
              <a:t>Three layers, and the method fails without all three.</a:t>
            </a:r>
          </a:p>
        </p:txBody>
      </p:sp>
      <p:sp>
        <p:nvSpPr>
          <p:cNvPr id="5" name="Rounded Rectangle 4"/>
          <p:cNvSpPr/>
          <p:nvPr/>
        </p:nvSpPr>
        <p:spPr>
          <a:xfrm>
            <a:off x="658368" y="2048256"/>
            <a:ext cx="3417722" cy="3310127"/>
          </a:xfrm>
          <a:prstGeom prst="roundRect">
            <a:avLst>
              <a:gd name="adj" fmla="val 6000"/>
            </a:avLst>
          </a:prstGeom>
          <a:solidFill>
            <a:srgbClr val="F2F6F8"/>
          </a:solidFill>
          <a:ln w="12700">
            <a:solidFill>
              <a:srgbClr val="D5D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58368" y="2048256"/>
            <a:ext cx="3417722" cy="45720"/>
          </a:xfrm>
          <a:prstGeom prst="rect">
            <a:avLst/>
          </a:prstGeom>
          <a:solidFill>
            <a:srgbClr val="107A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32688" y="2697479"/>
            <a:ext cx="2869082" cy="384048"/>
          </a:xfrm>
          <a:prstGeom prst="rect">
            <a:avLst/>
          </a:prstGeom>
          <a:noFill/>
        </p:spPr>
        <p:txBody>
          <a:bodyPr wrap="square" lIns="0" rIns="0" tIns="0" bIns="0" anchor="t">
            <a:spAutoFit/>
          </a:bodyPr>
          <a:lstStyle/>
          <a:p>
            <a:pPr algn="l"/>
            <a:r>
              <a:rPr sz="2200" b="1" i="0">
                <a:solidFill>
                  <a:srgbClr val="107A84"/>
                </a:solidFill>
                <a:latin typeface="Arial"/>
              </a:rPr>
              <a:t>1</a:t>
            </a:r>
          </a:p>
        </p:txBody>
      </p:sp>
      <p:sp>
        <p:nvSpPr>
          <p:cNvPr id="8" name="TextBox 7"/>
          <p:cNvSpPr txBox="1"/>
          <p:nvPr/>
        </p:nvSpPr>
        <p:spPr>
          <a:xfrm>
            <a:off x="932688" y="3136391"/>
            <a:ext cx="2869082" cy="749808"/>
          </a:xfrm>
          <a:prstGeom prst="rect">
            <a:avLst/>
          </a:prstGeom>
          <a:noFill/>
        </p:spPr>
        <p:txBody>
          <a:bodyPr wrap="square" lIns="0" rIns="0" tIns="0" bIns="0" anchor="t">
            <a:spAutoFit/>
          </a:bodyPr>
          <a:lstStyle/>
          <a:p>
            <a:pPr algn="l"/>
            <a:r>
              <a:rPr sz="1550" b="1" i="0">
                <a:solidFill>
                  <a:srgbClr val="0B3552"/>
                </a:solidFill>
                <a:latin typeface="Arial"/>
              </a:rPr>
              <a:t>Precise problem description</a:t>
            </a:r>
          </a:p>
        </p:txBody>
      </p:sp>
      <p:sp>
        <p:nvSpPr>
          <p:cNvPr id="9" name="TextBox 8"/>
          <p:cNvSpPr txBox="1"/>
          <p:nvPr/>
        </p:nvSpPr>
        <p:spPr>
          <a:xfrm>
            <a:off x="932688" y="3886200"/>
            <a:ext cx="2869082" cy="877824"/>
          </a:xfrm>
          <a:prstGeom prst="rect">
            <a:avLst/>
          </a:prstGeom>
          <a:noFill/>
        </p:spPr>
        <p:txBody>
          <a:bodyPr wrap="square" lIns="0" rIns="0" tIns="0" bIns="0" anchor="t">
            <a:spAutoFit/>
          </a:bodyPr>
          <a:lstStyle/>
          <a:p>
            <a:pPr algn="l"/>
            <a:r>
              <a:rPr sz="1200" b="0" i="0">
                <a:solidFill>
                  <a:srgbClr val="5B6B78"/>
                </a:solidFill>
                <a:latin typeface="Arial"/>
              </a:rPr>
              <a:t>More careful phrasing consistently reduced correction rounds.</a:t>
            </a:r>
          </a:p>
        </p:txBody>
      </p:sp>
      <p:sp>
        <p:nvSpPr>
          <p:cNvPr id="10" name="Rounded Rectangle 9"/>
          <p:cNvSpPr/>
          <p:nvPr/>
        </p:nvSpPr>
        <p:spPr>
          <a:xfrm>
            <a:off x="4386986" y="2048256"/>
            <a:ext cx="3417722" cy="3310127"/>
          </a:xfrm>
          <a:prstGeom prst="roundRect">
            <a:avLst>
              <a:gd name="adj" fmla="val 6000"/>
            </a:avLst>
          </a:prstGeom>
          <a:solidFill>
            <a:srgbClr val="F2F6F8"/>
          </a:solidFill>
          <a:ln w="12700">
            <a:solidFill>
              <a:srgbClr val="D5D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86986" y="2048256"/>
            <a:ext cx="3417722" cy="45720"/>
          </a:xfrm>
          <a:prstGeom prst="rect">
            <a:avLst/>
          </a:prstGeom>
          <a:solidFill>
            <a:srgbClr val="107A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1306" y="2697479"/>
            <a:ext cx="2869082" cy="384048"/>
          </a:xfrm>
          <a:prstGeom prst="rect">
            <a:avLst/>
          </a:prstGeom>
          <a:noFill/>
        </p:spPr>
        <p:txBody>
          <a:bodyPr wrap="square" lIns="0" rIns="0" tIns="0" bIns="0" anchor="t">
            <a:spAutoFit/>
          </a:bodyPr>
          <a:lstStyle/>
          <a:p>
            <a:pPr algn="l"/>
            <a:r>
              <a:rPr sz="2200" b="1" i="0">
                <a:solidFill>
                  <a:srgbClr val="107A84"/>
                </a:solidFill>
                <a:latin typeface="Arial"/>
              </a:rPr>
              <a:t>2</a:t>
            </a:r>
          </a:p>
        </p:txBody>
      </p:sp>
      <p:sp>
        <p:nvSpPr>
          <p:cNvPr id="13" name="TextBox 12"/>
          <p:cNvSpPr txBox="1"/>
          <p:nvPr/>
        </p:nvSpPr>
        <p:spPr>
          <a:xfrm>
            <a:off x="4661306" y="3136391"/>
            <a:ext cx="2869082" cy="749808"/>
          </a:xfrm>
          <a:prstGeom prst="rect">
            <a:avLst/>
          </a:prstGeom>
          <a:noFill/>
        </p:spPr>
        <p:txBody>
          <a:bodyPr wrap="square" lIns="0" rIns="0" tIns="0" bIns="0" anchor="t">
            <a:spAutoFit/>
          </a:bodyPr>
          <a:lstStyle/>
          <a:p>
            <a:pPr algn="l"/>
            <a:r>
              <a:rPr sz="1550" b="1" i="0">
                <a:solidFill>
                  <a:srgbClr val="0B3552"/>
                </a:solidFill>
                <a:latin typeface="Arial"/>
              </a:rPr>
              <a:t>Execution-based diagnosis</a:t>
            </a:r>
          </a:p>
        </p:txBody>
      </p:sp>
      <p:sp>
        <p:nvSpPr>
          <p:cNvPr id="14" name="TextBox 13"/>
          <p:cNvSpPr txBox="1"/>
          <p:nvPr/>
        </p:nvSpPr>
        <p:spPr>
          <a:xfrm>
            <a:off x="4661306" y="3886200"/>
            <a:ext cx="2869082" cy="877824"/>
          </a:xfrm>
          <a:prstGeom prst="rect">
            <a:avLst/>
          </a:prstGeom>
          <a:noFill/>
        </p:spPr>
        <p:txBody>
          <a:bodyPr wrap="square" lIns="0" rIns="0" tIns="0" bIns="0" anchor="t">
            <a:spAutoFit/>
          </a:bodyPr>
          <a:lstStyle/>
          <a:p>
            <a:pPr algn="l"/>
            <a:r>
              <a:rPr sz="1200" b="0" i="0">
                <a:solidFill>
                  <a:srgbClr val="5B6B78"/>
                </a:solidFill>
                <a:latin typeface="Arial"/>
              </a:rPr>
              <a:t>Runtime output found the edge cases that description could not.</a:t>
            </a:r>
          </a:p>
        </p:txBody>
      </p:sp>
      <p:sp>
        <p:nvSpPr>
          <p:cNvPr id="15" name="Rounded Rectangle 14"/>
          <p:cNvSpPr/>
          <p:nvPr/>
        </p:nvSpPr>
        <p:spPr>
          <a:xfrm>
            <a:off x="8115604" y="2048256"/>
            <a:ext cx="3417722" cy="3310127"/>
          </a:xfrm>
          <a:prstGeom prst="roundRect">
            <a:avLst>
              <a:gd name="adj" fmla="val 6000"/>
            </a:avLst>
          </a:prstGeom>
          <a:solidFill>
            <a:srgbClr val="F2F6F8"/>
          </a:solidFill>
          <a:ln w="12700">
            <a:solidFill>
              <a:srgbClr val="D5D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115604" y="2048256"/>
            <a:ext cx="3417722" cy="45720"/>
          </a:xfrm>
          <a:prstGeom prst="rect">
            <a:avLst/>
          </a:prstGeom>
          <a:solidFill>
            <a:srgbClr val="107A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89924" y="2697479"/>
            <a:ext cx="2869082" cy="384048"/>
          </a:xfrm>
          <a:prstGeom prst="rect">
            <a:avLst/>
          </a:prstGeom>
          <a:noFill/>
        </p:spPr>
        <p:txBody>
          <a:bodyPr wrap="square" lIns="0" rIns="0" tIns="0" bIns="0" anchor="t">
            <a:spAutoFit/>
          </a:bodyPr>
          <a:lstStyle/>
          <a:p>
            <a:pPr algn="l"/>
            <a:r>
              <a:rPr sz="2200" b="1" i="0">
                <a:solidFill>
                  <a:srgbClr val="107A84"/>
                </a:solidFill>
                <a:latin typeface="Arial"/>
              </a:rPr>
              <a:t>3</a:t>
            </a:r>
          </a:p>
        </p:txBody>
      </p:sp>
      <p:sp>
        <p:nvSpPr>
          <p:cNvPr id="18" name="TextBox 17"/>
          <p:cNvSpPr txBox="1"/>
          <p:nvPr/>
        </p:nvSpPr>
        <p:spPr>
          <a:xfrm>
            <a:off x="8389924" y="3136391"/>
            <a:ext cx="2869082" cy="749808"/>
          </a:xfrm>
          <a:prstGeom prst="rect">
            <a:avLst/>
          </a:prstGeom>
          <a:noFill/>
        </p:spPr>
        <p:txBody>
          <a:bodyPr wrap="square" lIns="0" rIns="0" tIns="0" bIns="0" anchor="t">
            <a:spAutoFit/>
          </a:bodyPr>
          <a:lstStyle/>
          <a:p>
            <a:pPr algn="l"/>
            <a:r>
              <a:rPr sz="1550" b="1" i="0">
                <a:solidFill>
                  <a:srgbClr val="0B3552"/>
                </a:solidFill>
                <a:latin typeface="Arial"/>
              </a:rPr>
              <a:t>Physical validation</a:t>
            </a:r>
          </a:p>
        </p:txBody>
      </p:sp>
      <p:sp>
        <p:nvSpPr>
          <p:cNvPr id="19" name="TextBox 18"/>
          <p:cNvSpPr txBox="1"/>
          <p:nvPr/>
        </p:nvSpPr>
        <p:spPr>
          <a:xfrm>
            <a:off x="8389924" y="3886200"/>
            <a:ext cx="2869082" cy="877824"/>
          </a:xfrm>
          <a:prstGeom prst="rect">
            <a:avLst/>
          </a:prstGeom>
          <a:noFill/>
        </p:spPr>
        <p:txBody>
          <a:bodyPr wrap="square" lIns="0" rIns="0" tIns="0" bIns="0" anchor="t">
            <a:spAutoFit/>
          </a:bodyPr>
          <a:lstStyle/>
          <a:p>
            <a:pPr algn="l"/>
            <a:r>
              <a:rPr sz="1200" b="0" i="0">
                <a:solidFill>
                  <a:srgbClr val="5B6B78"/>
                </a:solidFill>
                <a:latin typeface="Arial"/>
              </a:rPr>
              <a:t>An expert still had to catch discrepancies visible only in real use.</a:t>
            </a:r>
          </a:p>
        </p:txBody>
      </p:sp>
      <p:sp>
        <p:nvSpPr>
          <p:cNvPr id="20" name="TextBox 19"/>
          <p:cNvSpPr txBox="1"/>
          <p:nvPr/>
        </p:nvSpPr>
        <p:spPr>
          <a:xfrm>
            <a:off x="658368" y="5632703"/>
            <a:ext cx="10874959" cy="548640"/>
          </a:xfrm>
          <a:prstGeom prst="rect">
            <a:avLst/>
          </a:prstGeom>
          <a:noFill/>
        </p:spPr>
        <p:txBody>
          <a:bodyPr wrap="square" lIns="0" rIns="0" tIns="0" bIns="0" anchor="t">
            <a:spAutoFit/>
          </a:bodyPr>
          <a:lstStyle/>
          <a:p>
            <a:pPr algn="l"/>
            <a:r>
              <a:rPr sz="1250" b="0" i="0">
                <a:solidFill>
                  <a:srgbClr val="14222E"/>
                </a:solidFill>
                <a:latin typeface="Arial"/>
              </a:rPr>
              <a:t>Without domain expertise at each layer, AI-assisted scientific software development risks producing </a:t>
            </a:r>
            <a:r>
              <a:rPr sz="1250" b="1" i="0">
                <a:solidFill>
                  <a:srgbClr val="14222E"/>
                </a:solidFill>
                <a:latin typeface="Arial"/>
              </a:rPr>
              <a:t>plausible but incorrect</a:t>
            </a:r>
            <a:r>
              <a:rPr sz="1250" b="0" i="0">
                <a:solidFill>
                  <a:srgbClr val="14222E"/>
                </a:solidFill>
                <a:latin typeface="Arial"/>
              </a:rPr>
              <a:t> implementations.</a:t>
            </a:r>
          </a:p>
        </p:txBody>
      </p:sp>
      <p:sp>
        <p:nvSpPr>
          <p:cNvPr id="21" name="TextBox 20"/>
          <p:cNvSpPr txBox="1"/>
          <p:nvPr/>
        </p:nvSpPr>
        <p:spPr>
          <a:xfrm>
            <a:off x="658368" y="6382512"/>
            <a:ext cx="7612471" cy="219456"/>
          </a:xfrm>
          <a:prstGeom prst="rect">
            <a:avLst/>
          </a:prstGeom>
          <a:noFill/>
        </p:spPr>
        <p:txBody>
          <a:bodyPr wrap="square" lIns="0" rIns="0" tIns="0" bIns="0" anchor="t">
            <a:spAutoFit/>
          </a:bodyPr>
          <a:lstStyle/>
          <a:p>
            <a:pPr algn="l"/>
            <a:r>
              <a:rPr sz="850" b="0" i="0">
                <a:solidFill>
                  <a:srgbClr val="9AA8B0"/>
                </a:solidFill>
                <a:latin typeface="Arial"/>
              </a:rPr>
              <a:t>An Integrated CFD Workflow Platform for In-House Solvers</a:t>
            </a:r>
          </a:p>
        </p:txBody>
      </p:sp>
      <p:sp>
        <p:nvSpPr>
          <p:cNvPr id="22" name="TextBox 21"/>
          <p:cNvSpPr txBox="1"/>
          <p:nvPr/>
        </p:nvSpPr>
        <p:spPr>
          <a:xfrm>
            <a:off x="10801807" y="6382512"/>
            <a:ext cx="731520" cy="219456"/>
          </a:xfrm>
          <a:prstGeom prst="rect">
            <a:avLst/>
          </a:prstGeom>
          <a:noFill/>
        </p:spPr>
        <p:txBody>
          <a:bodyPr wrap="square" lIns="0" rIns="0" tIns="0" bIns="0" anchor="t">
            <a:spAutoFit/>
          </a:bodyPr>
          <a:lstStyle/>
          <a:p>
            <a:pPr algn="r"/>
            <a:r>
              <a:rPr sz="950" b="1" i="0">
                <a:solidFill>
                  <a:srgbClr val="9AA8B0"/>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58368" y="475488"/>
            <a:ext cx="10874959" cy="256032"/>
          </a:xfrm>
          <a:prstGeom prst="rect">
            <a:avLst/>
          </a:prstGeom>
          <a:noFill/>
        </p:spPr>
        <p:txBody>
          <a:bodyPr wrap="square" lIns="0" rIns="0" tIns="0" bIns="0" anchor="t">
            <a:spAutoFit/>
          </a:bodyPr>
          <a:lstStyle/>
          <a:p>
            <a:pPr algn="l"/>
            <a:r>
              <a:rPr sz="1150" b="1" i="0">
                <a:solidFill>
                  <a:srgbClr val="107A84"/>
                </a:solidFill>
                <a:latin typeface="Arial"/>
              </a:rPr>
              <a:t>CONCLUSION</a:t>
            </a:r>
          </a:p>
        </p:txBody>
      </p:sp>
      <p:sp>
        <p:nvSpPr>
          <p:cNvPr id="3" name="TextBox 2"/>
          <p:cNvSpPr txBox="1"/>
          <p:nvPr/>
        </p:nvSpPr>
        <p:spPr>
          <a:xfrm>
            <a:off x="658368" y="786384"/>
            <a:ext cx="10874959" cy="640080"/>
          </a:xfrm>
          <a:prstGeom prst="rect">
            <a:avLst/>
          </a:prstGeom>
          <a:noFill/>
        </p:spPr>
        <p:txBody>
          <a:bodyPr wrap="square" lIns="0" rIns="0" tIns="0" bIns="0" anchor="t">
            <a:spAutoFit/>
          </a:bodyPr>
          <a:lstStyle/>
          <a:p>
            <a:pPr algn="l"/>
            <a:r>
              <a:rPr sz="2700" b="1" i="0">
                <a:solidFill>
                  <a:srgbClr val="0B3552"/>
                </a:solidFill>
                <a:latin typeface="Arial"/>
              </a:rPr>
              <a:t>What we take away</a:t>
            </a:r>
          </a:p>
        </p:txBody>
      </p:sp>
      <p:sp>
        <p:nvSpPr>
          <p:cNvPr id="4" name="TextBox 3"/>
          <p:cNvSpPr txBox="1"/>
          <p:nvPr/>
        </p:nvSpPr>
        <p:spPr>
          <a:xfrm>
            <a:off x="658368" y="1709928"/>
            <a:ext cx="10004962" cy="4114800"/>
          </a:xfrm>
          <a:prstGeom prst="rect">
            <a:avLst/>
          </a:prstGeom>
          <a:noFill/>
        </p:spPr>
        <p:txBody>
          <a:bodyPr wrap="square" lIns="0" rIns="0" tIns="0" bIns="0" anchor="t">
            <a:spAutoFit/>
          </a:bodyPr>
          <a:lstStyle/>
          <a:p>
            <a:pPr algn="l">
              <a:spcBef>
                <a:spcPts val="0"/>
              </a:spcBef>
              <a:spcAft>
                <a:spcPts val="1100"/>
              </a:spcAft>
            </a:pPr>
            <a:r>
              <a:rPr sz="1500" b="1" i="0">
                <a:solidFill>
                  <a:srgbClr val="107A84"/>
                </a:solidFill>
                <a:latin typeface="Arial"/>
              </a:rPr>
              <a:t>—  </a:t>
            </a:r>
            <a:r>
              <a:rPr sz="1500" b="0" i="0">
                <a:solidFill>
                  <a:srgbClr val="14222E"/>
                </a:solidFill>
                <a:latin typeface="Arial"/>
              </a:rPr>
              <a:t>A unified CFD workflow platform for in-house solvers, demonstrated with UNICONES — without modifying the solver core</a:t>
            </a:r>
          </a:p>
          <a:p>
            <a:pPr>
              <a:spcBef>
                <a:spcPts val="0"/>
              </a:spcBef>
              <a:spcAft>
                <a:spcPts val="1100"/>
              </a:spcAft>
            </a:pPr>
            <a:r>
              <a:rPr sz="1500" b="1" i="0">
                <a:solidFill>
                  <a:srgbClr val="107A84"/>
                </a:solidFill>
                <a:latin typeface="Arial"/>
              </a:rPr>
              <a:t>—  </a:t>
            </a:r>
            <a:r>
              <a:rPr sz="1500" b="0" i="0">
                <a:solidFill>
                  <a:srgbClr val="14222E"/>
                </a:solidFill>
                <a:latin typeface="Arial"/>
              </a:rPr>
              <a:t>Tools reduced </a:t>
            </a:r>
            <a:r>
              <a:rPr sz="1500" b="1" i="0">
                <a:solidFill>
                  <a:srgbClr val="14222E"/>
                </a:solidFill>
                <a:latin typeface="Arial"/>
              </a:rPr>
              <a:t>5 → 1</a:t>
            </a:r>
            <a:r>
              <a:rPr sz="1500" b="0" i="0">
                <a:solidFill>
                  <a:srgbClr val="14222E"/>
                </a:solidFill>
                <a:latin typeface="Arial"/>
              </a:rPr>
              <a:t>, workflow steps </a:t>
            </a:r>
            <a:r>
              <a:rPr sz="1500" b="1" i="0">
                <a:solidFill>
                  <a:srgbClr val="14222E"/>
                </a:solidFill>
                <a:latin typeface="Arial"/>
              </a:rPr>
              <a:t>~20 → ~5</a:t>
            </a:r>
            <a:r>
              <a:rPr sz="1500" b="0" i="0">
                <a:solidFill>
                  <a:srgbClr val="14222E"/>
                </a:solidFill>
                <a:latin typeface="Arial"/>
              </a:rPr>
              <a:t>, onboarding </a:t>
            </a:r>
            <a:r>
              <a:rPr sz="1500" b="1" i="0">
                <a:solidFill>
                  <a:srgbClr val="14222E"/>
                </a:solidFill>
                <a:latin typeface="Arial"/>
              </a:rPr>
              <a:t>~2 weeks → ~2 days</a:t>
            </a:r>
          </a:p>
          <a:p>
            <a:pPr>
              <a:spcBef>
                <a:spcPts val="0"/>
              </a:spcBef>
              <a:spcAft>
                <a:spcPts val="1100"/>
              </a:spcAft>
            </a:pPr>
            <a:r>
              <a:rPr sz="1500" b="1" i="0">
                <a:solidFill>
                  <a:srgbClr val="107A84"/>
                </a:solidFill>
                <a:latin typeface="Arial"/>
              </a:rPr>
              <a:t>—  </a:t>
            </a:r>
            <a:r>
              <a:rPr sz="1500" b="0" i="0">
                <a:solidFill>
                  <a:srgbClr val="14222E"/>
                </a:solidFill>
                <a:latin typeface="Arial"/>
              </a:rPr>
              <a:t>The Solver Adapter — </a:t>
            </a:r>
            <a:r>
              <a:rPr sz="1500" b="1" i="0">
                <a:solidFill>
                  <a:srgbClr val="14222E"/>
                </a:solidFill>
                <a:latin typeface="Arial"/>
              </a:rPr>
              <a:t>under 150 lines of Python per new solver</a:t>
            </a:r>
            <a:r>
              <a:rPr sz="1500" b="0" i="0">
                <a:solidFill>
                  <a:srgbClr val="14222E"/>
                </a:solidFill>
                <a:latin typeface="Arial"/>
              </a:rPr>
              <a:t> — decouples solver-specific logic from the platform core</a:t>
            </a:r>
          </a:p>
          <a:p>
            <a:pPr>
              <a:spcBef>
                <a:spcPts val="0"/>
              </a:spcBef>
              <a:spcAft>
                <a:spcPts val="0"/>
              </a:spcAft>
            </a:pPr>
            <a:r>
              <a:rPr sz="1500" b="1" i="0">
                <a:solidFill>
                  <a:srgbClr val="107A84"/>
                </a:solidFill>
                <a:latin typeface="Arial"/>
              </a:rPr>
              <a:t>—  </a:t>
            </a:r>
            <a:r>
              <a:rPr sz="1500" b="0" i="0">
                <a:solidFill>
                  <a:srgbClr val="14222E"/>
                </a:solidFill>
                <a:latin typeface="Arial"/>
              </a:rPr>
              <a:t>A generalizable strategy for groups maintaining in-house solvers with limited software-engineering resources</a:t>
            </a:r>
          </a:p>
        </p:txBody>
      </p:sp>
      <p:sp>
        <p:nvSpPr>
          <p:cNvPr id="5" name="TextBox 4"/>
          <p:cNvSpPr txBox="1"/>
          <p:nvPr/>
        </p:nvSpPr>
        <p:spPr>
          <a:xfrm>
            <a:off x="658368" y="6382512"/>
            <a:ext cx="7612471" cy="219456"/>
          </a:xfrm>
          <a:prstGeom prst="rect">
            <a:avLst/>
          </a:prstGeom>
          <a:noFill/>
        </p:spPr>
        <p:txBody>
          <a:bodyPr wrap="square" lIns="0" rIns="0" tIns="0" bIns="0" anchor="t">
            <a:spAutoFit/>
          </a:bodyPr>
          <a:lstStyle/>
          <a:p>
            <a:pPr algn="l"/>
            <a:r>
              <a:rPr sz="850" b="0" i="0">
                <a:solidFill>
                  <a:srgbClr val="9AA8B0"/>
                </a:solidFill>
                <a:latin typeface="Arial"/>
              </a:rPr>
              <a:t>An Integrated CFD Workflow Platform for In-House Solvers</a:t>
            </a:r>
          </a:p>
        </p:txBody>
      </p:sp>
      <p:sp>
        <p:nvSpPr>
          <p:cNvPr id="6" name="TextBox 5"/>
          <p:cNvSpPr txBox="1"/>
          <p:nvPr/>
        </p:nvSpPr>
        <p:spPr>
          <a:xfrm>
            <a:off x="10801807" y="6382512"/>
            <a:ext cx="731520" cy="219456"/>
          </a:xfrm>
          <a:prstGeom prst="rect">
            <a:avLst/>
          </a:prstGeom>
          <a:noFill/>
        </p:spPr>
        <p:txBody>
          <a:bodyPr wrap="square" lIns="0" rIns="0" tIns="0" bIns="0" anchor="t">
            <a:spAutoFit/>
          </a:bodyPr>
          <a:lstStyle/>
          <a:p>
            <a:pPr algn="r"/>
            <a:r>
              <a:rPr sz="950" b="1" i="0">
                <a:solidFill>
                  <a:srgbClr val="9AA8B0"/>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0" y="0"/>
            <a:ext cx="12191695" cy="6858000"/>
          </a:xfrm>
          <a:prstGeom prst="roundRect">
            <a:avLst>
              <a:gd name="adj" fmla="val 6000"/>
            </a:avLst>
          </a:prstGeom>
          <a:solidFill>
            <a:srgbClr val="0B35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0" y="0"/>
            <a:ext cx="201168" cy="6858000"/>
          </a:xfrm>
          <a:prstGeom prst="roundRect">
            <a:avLst>
              <a:gd name="adj" fmla="val 6000"/>
            </a:avLst>
          </a:prstGeom>
          <a:solidFill>
            <a:srgbClr val="107A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960120"/>
            <a:ext cx="9144000" cy="274320"/>
          </a:xfrm>
          <a:prstGeom prst="rect">
            <a:avLst/>
          </a:prstGeom>
          <a:noFill/>
        </p:spPr>
        <p:txBody>
          <a:bodyPr wrap="square" lIns="0" rIns="0" tIns="0" bIns="0" anchor="t">
            <a:spAutoFit/>
          </a:bodyPr>
          <a:lstStyle/>
          <a:p>
            <a:pPr algn="l"/>
            <a:r>
              <a:rPr sz="1250" b="1" i="0">
                <a:solidFill>
                  <a:srgbClr val="7FC6CE"/>
                </a:solidFill>
                <a:latin typeface="Arial"/>
              </a:rPr>
              <a:t>FUTURE WORK</a:t>
            </a:r>
          </a:p>
        </p:txBody>
      </p:sp>
      <p:sp>
        <p:nvSpPr>
          <p:cNvPr id="5" name="TextBox 4"/>
          <p:cNvSpPr txBox="1"/>
          <p:nvPr/>
        </p:nvSpPr>
        <p:spPr>
          <a:xfrm>
            <a:off x="1005840" y="1325880"/>
            <a:ext cx="10058400" cy="640080"/>
          </a:xfrm>
          <a:prstGeom prst="rect">
            <a:avLst/>
          </a:prstGeom>
          <a:noFill/>
        </p:spPr>
        <p:txBody>
          <a:bodyPr wrap="square" lIns="0" rIns="0" tIns="0" bIns="0" anchor="t">
            <a:spAutoFit/>
          </a:bodyPr>
          <a:lstStyle/>
          <a:p>
            <a:pPr algn="l"/>
            <a:r>
              <a:rPr sz="3000" b="1" i="0">
                <a:solidFill>
                  <a:srgbClr val="FFFFFF"/>
                </a:solidFill>
                <a:latin typeface="Arial"/>
              </a:rPr>
              <a:t>Where this goes next</a:t>
            </a:r>
          </a:p>
        </p:txBody>
      </p:sp>
      <p:sp>
        <p:nvSpPr>
          <p:cNvPr id="6" name="TextBox 5"/>
          <p:cNvSpPr txBox="1"/>
          <p:nvPr/>
        </p:nvSpPr>
        <p:spPr>
          <a:xfrm>
            <a:off x="1005840" y="2331720"/>
            <a:ext cx="9692640" cy="1737360"/>
          </a:xfrm>
          <a:prstGeom prst="rect">
            <a:avLst/>
          </a:prstGeom>
          <a:noFill/>
        </p:spPr>
        <p:txBody>
          <a:bodyPr wrap="square" lIns="0" rIns="0" tIns="0" bIns="0" anchor="t">
            <a:spAutoFit/>
          </a:bodyPr>
          <a:lstStyle/>
          <a:p>
            <a:pPr algn="l">
              <a:spcAft>
                <a:spcPts val="1200"/>
              </a:spcAft>
            </a:pPr>
            <a:r>
              <a:rPr sz="1500" b="1" i="0">
                <a:solidFill>
                  <a:srgbClr val="7FC6CE"/>
                </a:solidFill>
                <a:latin typeface="Arial"/>
              </a:rPr>
              <a:t>—  </a:t>
            </a:r>
            <a:r>
              <a:rPr sz="1500" b="0" i="0">
                <a:solidFill>
                  <a:srgbClr val="E4EEF3"/>
                </a:solidFill>
                <a:latin typeface="Arial"/>
              </a:rPr>
              <a:t>Extend the platform to </a:t>
            </a:r>
            <a:r>
              <a:rPr sz="1500" b="1" i="0">
                <a:solidFill>
                  <a:srgbClr val="E4EEF3"/>
                </a:solidFill>
                <a:latin typeface="Arial"/>
              </a:rPr>
              <a:t>3D mesh generation</a:t>
            </a:r>
          </a:p>
          <a:p>
            <a:pPr>
              <a:spcAft>
                <a:spcPts val="1200"/>
              </a:spcAft>
            </a:pPr>
            <a:r>
              <a:rPr sz="1500" b="1" i="0">
                <a:solidFill>
                  <a:srgbClr val="7FC6CE"/>
                </a:solidFill>
                <a:latin typeface="Arial"/>
              </a:rPr>
              <a:t>—  </a:t>
            </a:r>
            <a:r>
              <a:rPr sz="1500" b="0" i="0">
                <a:solidFill>
                  <a:srgbClr val="E4EEF3"/>
                </a:solidFill>
                <a:latin typeface="Arial"/>
              </a:rPr>
              <a:t>A formal user study with standardized usability metrics</a:t>
            </a:r>
          </a:p>
          <a:p>
            <a:pPr>
              <a:spcAft>
                <a:spcPts val="1200"/>
              </a:spcAft>
            </a:pPr>
            <a:r>
              <a:rPr sz="1500" b="1" i="0">
                <a:solidFill>
                  <a:srgbClr val="7FC6CE"/>
                </a:solidFill>
                <a:latin typeface="Arial"/>
              </a:rPr>
              <a:t>—  </a:t>
            </a:r>
            <a:r>
              <a:rPr sz="1500" b="0" i="0">
                <a:solidFill>
                  <a:srgbClr val="E4EEF3"/>
                </a:solidFill>
                <a:latin typeface="Arial"/>
              </a:rPr>
              <a:t>Web-based deployment, to further lower the barrier for CFD education and research</a:t>
            </a:r>
          </a:p>
        </p:txBody>
      </p:sp>
      <p:sp>
        <p:nvSpPr>
          <p:cNvPr id="7" name="Rectangle 6"/>
          <p:cNvSpPr/>
          <p:nvPr/>
        </p:nvSpPr>
        <p:spPr>
          <a:xfrm>
            <a:off x="1005840" y="4315968"/>
            <a:ext cx="1371600" cy="32004"/>
          </a:xfrm>
          <a:prstGeom prst="rect">
            <a:avLst/>
          </a:prstGeom>
          <a:solidFill>
            <a:srgbClr val="107A8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4590288"/>
            <a:ext cx="10058400" cy="365760"/>
          </a:xfrm>
          <a:prstGeom prst="rect">
            <a:avLst/>
          </a:prstGeom>
          <a:noFill/>
        </p:spPr>
        <p:txBody>
          <a:bodyPr wrap="square" lIns="0" rIns="0" tIns="0" bIns="0" anchor="t">
            <a:spAutoFit/>
          </a:bodyPr>
          <a:lstStyle/>
          <a:p>
            <a:pPr algn="l"/>
            <a:r>
              <a:rPr sz="1800" b="1" i="0">
                <a:solidFill>
                  <a:srgbClr val="FFFFFF"/>
                </a:solidFill>
                <a:latin typeface="Arial"/>
              </a:rPr>
              <a:t>Thank you — questions welcome.</a:t>
            </a:r>
          </a:p>
        </p:txBody>
      </p:sp>
      <p:sp>
        <p:nvSpPr>
          <p:cNvPr id="9" name="TextBox 8"/>
          <p:cNvSpPr txBox="1"/>
          <p:nvPr/>
        </p:nvSpPr>
        <p:spPr>
          <a:xfrm>
            <a:off x="1005840" y="5175504"/>
            <a:ext cx="9875520" cy="1005840"/>
          </a:xfrm>
          <a:prstGeom prst="rect">
            <a:avLst/>
          </a:prstGeom>
          <a:noFill/>
        </p:spPr>
        <p:txBody>
          <a:bodyPr wrap="square" lIns="0" rIns="0" tIns="0" bIns="0" anchor="t">
            <a:spAutoFit/>
          </a:bodyPr>
          <a:lstStyle/>
          <a:p>
            <a:pPr algn="l"/>
            <a:r>
              <a:rPr sz="1050" b="0" i="0">
                <a:solidFill>
                  <a:srgbClr val="8FA8B8"/>
                </a:solidFill>
                <a:latin typeface="Arial"/>
              </a:rPr>
              <a:t>This work was made possible by the academic resources and advanced research infrastructure of the National Center for High-performance Computing, National Institutes of Applied Research, Taiwan, with partial funding from the fundamental R&amp;D program of NSTC, Taiwan.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